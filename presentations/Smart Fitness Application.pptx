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3" r:id="rId4"/>
    <p:sldId id="257" r:id="rId5"/>
    <p:sldId id="266" r:id="rId6"/>
    <p:sldId id="267" r:id="rId7"/>
    <p:sldId id="265" r:id="rId8"/>
  </p:sldIdLst>
  <p:sldSz cx="9753600" cy="7315200"/>
  <p:notesSz cx="6858000" cy="9144000"/>
  <p:embeddedFontLst>
    <p:embeddedFont>
      <p:font typeface="Fira Code" panose="020B0809050000020004" pitchFamily="49" charset="0"/>
      <p:regular r:id="rId10"/>
      <p:bold r:id="rId11"/>
    </p:embeddedFont>
    <p:embeddedFont>
      <p:font typeface="Impact" panose="020B0806030902050204" pitchFamily="34" charset="0"/>
      <p:regular r:id="rId12"/>
    </p:embeddedFont>
    <p:embeddedFont>
      <p:font typeface="ITC Avant Garde Gothic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EFA9F61-B520-468B-8B39-154B6AB26D83}">
          <p14:sldIdLst>
            <p14:sldId id="256"/>
            <p14:sldId id="262"/>
            <p14:sldId id="263"/>
            <p14:sldId id="257"/>
            <p14:sldId id="266"/>
            <p14:sldId id="267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94" autoAdjust="0"/>
    <p:restoredTop sz="93969" autoAdjust="0"/>
  </p:normalViewPr>
  <p:slideViewPr>
    <p:cSldViewPr>
      <p:cViewPr varScale="1">
        <p:scale>
          <a:sx n="60" d="100"/>
          <a:sy n="60" d="100"/>
        </p:scale>
        <p:origin x="1482" y="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453F3-3E21-4BFF-9600-486A791CAFA6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48381-D345-48A3-A38C-EF89CB936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08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48381-D345-48A3-A38C-EF89CB9369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70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48381-D345-48A3-A38C-EF89CB9369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2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48381-D345-48A3-A38C-EF89CB9369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48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8598B-5C7C-F166-6FDC-4506203C7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4C237-2DBB-30A5-0E5B-62449064E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AA56E-2A67-586D-927A-137D3A525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359AE-46FB-169F-B06B-3400186D5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48381-D345-48A3-A38C-EF89CB9369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34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attention!</a:t>
            </a:r>
            <a:br>
              <a:rPr lang="en-US" dirty="0"/>
            </a:br>
            <a:r>
              <a:rPr lang="en-US" dirty="0"/>
              <a:t>I are ready to answer any questions you may have about our project.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48381-D345-48A3-A38C-EF89CB9369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96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5867400"/>
            <a:ext cx="9753600" cy="1447800"/>
            <a:chOff x="0" y="0"/>
            <a:chExt cx="3612444" cy="6718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2445" cy="671870"/>
            </a:xfrm>
            <a:custGeom>
              <a:avLst/>
              <a:gdLst/>
              <a:ahLst/>
              <a:cxnLst/>
              <a:rect l="l" t="t" r="r" b="b"/>
              <a:pathLst>
                <a:path w="3612445" h="671870">
                  <a:moveTo>
                    <a:pt x="0" y="0"/>
                  </a:moveTo>
                  <a:lnTo>
                    <a:pt x="3612445" y="0"/>
                  </a:lnTo>
                  <a:lnTo>
                    <a:pt x="3612445" y="671870"/>
                  </a:lnTo>
                  <a:lnTo>
                    <a:pt x="0" y="671870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3612444" cy="681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2401" y="156561"/>
            <a:ext cx="56388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dirty="0">
                <a:solidFill>
                  <a:srgbClr val="372A28"/>
                </a:solidFill>
                <a:latin typeface="Impact" panose="020B0806030902050204" pitchFamily="34" charset="0"/>
                <a:ea typeface="ITC Avant Garde Gothic"/>
                <a:cs typeface="ITC Avant Garde Gothic"/>
                <a:sym typeface="ITC Avant Garde Gothic"/>
              </a:rPr>
              <a:t>SMART FITNESS WORKOUT APP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327" y="6605470"/>
            <a:ext cx="9454661" cy="69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GYMAPP: </a:t>
            </a:r>
            <a:r>
              <a:rPr lang="en-US" dirty="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Your all-in-one fitness companion for personalized workouts, nutrition, and progress tracking.</a:t>
            </a:r>
            <a:endParaRPr lang="en-US" sz="2000" dirty="0"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" name="Freeform 9"/>
          <p:cNvSpPr/>
          <p:nvPr/>
        </p:nvSpPr>
        <p:spPr>
          <a:xfrm rot="5400000">
            <a:off x="5926014" y="287216"/>
            <a:ext cx="568571" cy="1447802"/>
          </a:xfrm>
          <a:custGeom>
            <a:avLst/>
            <a:gdLst/>
            <a:ahLst/>
            <a:cxnLst/>
            <a:rect l="l" t="t" r="r" b="b"/>
            <a:pathLst>
              <a:path w="586416" h="1662520">
                <a:moveTo>
                  <a:pt x="0" y="0"/>
                </a:moveTo>
                <a:lnTo>
                  <a:pt x="586416" y="0"/>
                </a:lnTo>
                <a:lnTo>
                  <a:pt x="586416" y="1662520"/>
                </a:lnTo>
                <a:lnTo>
                  <a:pt x="0" y="1662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31839A4-4550-083E-54EF-0F8396E9F30D}"/>
              </a:ext>
            </a:extLst>
          </p:cNvPr>
          <p:cNvSpPr txBox="1">
            <a:spLocks/>
          </p:cNvSpPr>
          <p:nvPr/>
        </p:nvSpPr>
        <p:spPr>
          <a:xfrm>
            <a:off x="140677" y="2804104"/>
            <a:ext cx="5638801" cy="268229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SCIENCE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SIENCE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LAWRENCE KINUTHIA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EB1/61273/22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B72F22-5146-1577-3838-8004A273EF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04" y="-361558"/>
            <a:ext cx="3191256" cy="7315200"/>
          </a:xfrm>
          <a:prstGeom prst="roundRect">
            <a:avLst>
              <a:gd name="adj" fmla="val 16667"/>
            </a:avLst>
          </a:prstGeom>
          <a:ln w="76200">
            <a:solidFill>
              <a:srgbClr val="FF0000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4447" y="797556"/>
            <a:ext cx="9106006" cy="835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800" b="1" dirty="0"/>
              <a:t>BACKGROUND TO THE STUDY</a:t>
            </a:r>
            <a:endParaRPr lang="en-US" sz="13800" b="1" dirty="0">
              <a:solidFill>
                <a:srgbClr val="372A28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8212BA0-4169-4B19-4936-579D68381137}"/>
              </a:ext>
            </a:extLst>
          </p:cNvPr>
          <p:cNvGrpSpPr/>
          <p:nvPr/>
        </p:nvGrpSpPr>
        <p:grpSpPr>
          <a:xfrm>
            <a:off x="509038" y="1933641"/>
            <a:ext cx="8863562" cy="5076754"/>
            <a:chOff x="159826" y="2763011"/>
            <a:chExt cx="4342875" cy="1177441"/>
          </a:xfrm>
        </p:grpSpPr>
        <p:grpSp>
          <p:nvGrpSpPr>
            <p:cNvPr id="3" name="Group 3"/>
            <p:cNvGrpSpPr/>
            <p:nvPr/>
          </p:nvGrpSpPr>
          <p:grpSpPr>
            <a:xfrm>
              <a:off x="159826" y="2763011"/>
              <a:ext cx="4342875" cy="1177441"/>
              <a:chOff x="-2171" y="-9525"/>
              <a:chExt cx="1608472" cy="43609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71" y="-4763"/>
                <a:ext cx="1606301" cy="426565"/>
              </a:xfrm>
              <a:custGeom>
                <a:avLst/>
                <a:gdLst/>
                <a:ahLst/>
                <a:cxnLst/>
                <a:rect l="l" t="t" r="r" b="b"/>
                <a:pathLst>
                  <a:path w="1606301" h="426565">
                    <a:moveTo>
                      <a:pt x="178508" y="0"/>
                    </a:moveTo>
                    <a:lnTo>
                      <a:pt x="1427793" y="0"/>
                    </a:lnTo>
                    <a:cubicBezTo>
                      <a:pt x="1475136" y="0"/>
                      <a:pt x="1520541" y="18807"/>
                      <a:pt x="1554017" y="52284"/>
                    </a:cubicBezTo>
                    <a:cubicBezTo>
                      <a:pt x="1587494" y="85761"/>
                      <a:pt x="1606301" y="131165"/>
                      <a:pt x="1606301" y="178508"/>
                    </a:cubicBezTo>
                    <a:lnTo>
                      <a:pt x="1606301" y="248056"/>
                    </a:lnTo>
                    <a:cubicBezTo>
                      <a:pt x="1606301" y="295400"/>
                      <a:pt x="1587494" y="340804"/>
                      <a:pt x="1554017" y="374281"/>
                    </a:cubicBezTo>
                    <a:cubicBezTo>
                      <a:pt x="1520541" y="407758"/>
                      <a:pt x="1475136" y="426565"/>
                      <a:pt x="1427793" y="426565"/>
                    </a:cubicBezTo>
                    <a:lnTo>
                      <a:pt x="178508" y="426565"/>
                    </a:lnTo>
                    <a:cubicBezTo>
                      <a:pt x="131165" y="426565"/>
                      <a:pt x="85761" y="407758"/>
                      <a:pt x="52284" y="374281"/>
                    </a:cubicBezTo>
                    <a:cubicBezTo>
                      <a:pt x="18807" y="340804"/>
                      <a:pt x="0" y="295400"/>
                      <a:pt x="0" y="248056"/>
                    </a:cubicBezTo>
                    <a:lnTo>
                      <a:pt x="0" y="178508"/>
                    </a:lnTo>
                    <a:cubicBezTo>
                      <a:pt x="0" y="131165"/>
                      <a:pt x="18807" y="85761"/>
                      <a:pt x="52284" y="52284"/>
                    </a:cubicBezTo>
                    <a:cubicBezTo>
                      <a:pt x="85761" y="18807"/>
                      <a:pt x="131165" y="0"/>
                      <a:pt x="17850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606301" cy="4360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545119" y="2827060"/>
              <a:ext cx="3770904" cy="8304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v"/>
              </a:pPr>
              <a:r>
                <a:rPr lang="en-US" sz="24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Fira Code"/>
                  <a:cs typeface="Times New Roman" panose="02020603050405020304" pitchFamily="18" charset="0"/>
                  <a:sym typeface="Fira Code"/>
                </a:rPr>
                <a:t>Physical fitness is vital for preventive healthcare</a:t>
              </a: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v"/>
              </a:pPr>
              <a:r>
                <a:rPr lang="en-US" sz="24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Fira Code"/>
                  <a:cs typeface="Times New Roman" panose="02020603050405020304" pitchFamily="18" charset="0"/>
                  <a:sym typeface="Fira Code"/>
                </a:rPr>
                <a:t>I found that existing apps lack personalization and interconnected  tracking</a:t>
              </a: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v"/>
              </a:pPr>
              <a:r>
                <a:rPr lang="en-US" sz="24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Fira Code"/>
                  <a:cs typeface="Times New Roman" panose="02020603050405020304" pitchFamily="18" charset="0"/>
                  <a:sym typeface="Fira Code"/>
                </a:rPr>
                <a:t>Smart systems can provide adaptive, data-driven fitness support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1796" y="762000"/>
            <a:ext cx="9150008" cy="906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dirty="0">
                <a:solidFill>
                  <a:srgbClr val="372A2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59370" y="1905000"/>
            <a:ext cx="644183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800" dirty="0"/>
              <a:t>A unified platform for managing both workouts and nutrition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800" dirty="0"/>
              <a:t>Personalized recommendations based on their fitness goals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800" dirty="0"/>
              <a:t>Easy-to-use interfaces for logging exercises and meals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800" dirty="0"/>
              <a:t>Offline capability to track data without constant internet connectivity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800" dirty="0"/>
              <a:t>Secure user authentication and data persistence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1C3B0-A6FB-B2BD-6C0E-A3ED662F9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67000"/>
            <a:ext cx="3159369" cy="260744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9753600" cy="2630926"/>
            <a:chOff x="0" y="0"/>
            <a:chExt cx="3612444" cy="9744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2445" cy="974417"/>
            </a:xfrm>
            <a:custGeom>
              <a:avLst/>
              <a:gdLst/>
              <a:ahLst/>
              <a:cxnLst/>
              <a:rect l="l" t="t" r="r" b="b"/>
              <a:pathLst>
                <a:path w="3612445" h="974417">
                  <a:moveTo>
                    <a:pt x="0" y="0"/>
                  </a:moveTo>
                  <a:lnTo>
                    <a:pt x="3612445" y="0"/>
                  </a:lnTo>
                  <a:lnTo>
                    <a:pt x="3612445" y="974417"/>
                  </a:lnTo>
                  <a:lnTo>
                    <a:pt x="0" y="974417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3612444" cy="983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5400000">
            <a:off x="7072698" y="190995"/>
            <a:ext cx="586416" cy="1662520"/>
          </a:xfrm>
          <a:custGeom>
            <a:avLst/>
            <a:gdLst/>
            <a:ahLst/>
            <a:cxnLst/>
            <a:rect l="l" t="t" r="r" b="b"/>
            <a:pathLst>
              <a:path w="586416" h="1662520">
                <a:moveTo>
                  <a:pt x="0" y="0"/>
                </a:moveTo>
                <a:lnTo>
                  <a:pt x="586416" y="0"/>
                </a:lnTo>
                <a:lnTo>
                  <a:pt x="586416" y="1662520"/>
                </a:lnTo>
                <a:lnTo>
                  <a:pt x="0" y="1662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731520" y="115052"/>
            <a:ext cx="5389889" cy="906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OBJECTIVES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4124" y="2620819"/>
            <a:ext cx="9284676" cy="415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2700" dirty="0"/>
              <a:t>Implement user authentication and profile management system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700" dirty="0"/>
              <a:t>Develop workout management and exercise tracking functionality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700" dirty="0"/>
              <a:t>Create an intelligent meal planning system based on user fitness goals and nutritional targets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700" dirty="0"/>
              <a:t>Implement SQLite database for reliable local data persistence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700" dirty="0"/>
              <a:t>Design responsive and intuitive user interfaces for all features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700" dirty="0"/>
              <a:t>Integrate recommendation engine to provide personalized workout suggestions</a:t>
            </a: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1761B03A-8A1E-DB0C-B6EC-0A49606E02A4}"/>
              </a:ext>
            </a:extLst>
          </p:cNvPr>
          <p:cNvSpPr txBox="1"/>
          <p:nvPr/>
        </p:nvSpPr>
        <p:spPr>
          <a:xfrm>
            <a:off x="152402" y="1612521"/>
            <a:ext cx="96012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  <a:t>General: Develop a personalized workout management and tracking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DF23B-FCD1-849B-F890-896DD16A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02FA783-6176-15EF-2BBD-64123767D411}"/>
              </a:ext>
            </a:extLst>
          </p:cNvPr>
          <p:cNvSpPr txBox="1"/>
          <p:nvPr/>
        </p:nvSpPr>
        <p:spPr>
          <a:xfrm>
            <a:off x="1099219" y="304800"/>
            <a:ext cx="7157480" cy="85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5400" dirty="0">
                <a:solidFill>
                  <a:srgbClr val="372A2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SYSTEM DESIGN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9A8BBB7-B924-42AA-76C3-144DA3033B7A}"/>
              </a:ext>
            </a:extLst>
          </p:cNvPr>
          <p:cNvSpPr/>
          <p:nvPr/>
        </p:nvSpPr>
        <p:spPr>
          <a:xfrm rot="-5400000">
            <a:off x="8039858" y="-115058"/>
            <a:ext cx="886358" cy="1421274"/>
          </a:xfrm>
          <a:custGeom>
            <a:avLst/>
            <a:gdLst/>
            <a:ahLst/>
            <a:cxnLst/>
            <a:rect l="l" t="t" r="r" b="b"/>
            <a:pathLst>
              <a:path w="886358" h="1421274">
                <a:moveTo>
                  <a:pt x="0" y="0"/>
                </a:moveTo>
                <a:lnTo>
                  <a:pt x="886358" y="0"/>
                </a:lnTo>
                <a:lnTo>
                  <a:pt x="886358" y="1421274"/>
                </a:lnTo>
                <a:lnTo>
                  <a:pt x="0" y="14212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5020007-8ABE-709C-F920-FC6A72136C47}"/>
              </a:ext>
            </a:extLst>
          </p:cNvPr>
          <p:cNvSpPr/>
          <p:nvPr/>
        </p:nvSpPr>
        <p:spPr>
          <a:xfrm rot="-5400000">
            <a:off x="656040" y="-115058"/>
            <a:ext cx="886358" cy="1421274"/>
          </a:xfrm>
          <a:custGeom>
            <a:avLst/>
            <a:gdLst/>
            <a:ahLst/>
            <a:cxnLst/>
            <a:rect l="l" t="t" r="r" b="b"/>
            <a:pathLst>
              <a:path w="886358" h="1421274">
                <a:moveTo>
                  <a:pt x="0" y="0"/>
                </a:moveTo>
                <a:lnTo>
                  <a:pt x="886358" y="0"/>
                </a:lnTo>
                <a:lnTo>
                  <a:pt x="886358" y="1421274"/>
                </a:lnTo>
                <a:lnTo>
                  <a:pt x="0" y="14212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0B0DCB3-8B0B-74AA-3327-230E7C57957C}"/>
              </a:ext>
            </a:extLst>
          </p:cNvPr>
          <p:cNvSpPr txBox="1"/>
          <p:nvPr/>
        </p:nvSpPr>
        <p:spPr>
          <a:xfrm>
            <a:off x="610869" y="1233426"/>
            <a:ext cx="8555308" cy="5082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Design: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Clean, intuitive app for users and admins; easy navigation and tracking.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Secure storage for users, workouts, nutrition, and progress.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Layered design - Flutter app, service logic, repository/data access, SQLite scalable and modular.</a:t>
            </a:r>
          </a:p>
        </p:txBody>
      </p:sp>
    </p:spTree>
    <p:extLst>
      <p:ext uri="{BB962C8B-B14F-4D97-AF65-F5344CB8AC3E}">
        <p14:creationId xmlns:p14="http://schemas.microsoft.com/office/powerpoint/2010/main" val="2517658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B7EEB4-A97D-A419-507B-C5F797FFF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572" y="300037"/>
            <a:ext cx="4148455" cy="67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97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47257" y="-204646"/>
            <a:ext cx="10200205" cy="874786"/>
            <a:chOff x="0" y="0"/>
            <a:chExt cx="3777854" cy="3239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77854" cy="323995"/>
            </a:xfrm>
            <a:custGeom>
              <a:avLst/>
              <a:gdLst/>
              <a:ahLst/>
              <a:cxnLst/>
              <a:rect l="l" t="t" r="r" b="b"/>
              <a:pathLst>
                <a:path w="3777854" h="323995">
                  <a:moveTo>
                    <a:pt x="0" y="0"/>
                  </a:moveTo>
                  <a:lnTo>
                    <a:pt x="3777854" y="0"/>
                  </a:lnTo>
                  <a:lnTo>
                    <a:pt x="3777854" y="323995"/>
                  </a:lnTo>
                  <a:lnTo>
                    <a:pt x="0" y="32399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3777854" cy="333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23784" y="4179238"/>
            <a:ext cx="7772400" cy="833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800" dirty="0">
                <a:solidFill>
                  <a:srgbClr val="372A2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- Ready for questions</a:t>
            </a:r>
          </a:p>
        </p:txBody>
      </p:sp>
      <p:sp>
        <p:nvSpPr>
          <p:cNvPr id="8" name="Freeform 8"/>
          <p:cNvSpPr/>
          <p:nvPr/>
        </p:nvSpPr>
        <p:spPr>
          <a:xfrm rot="-5400000">
            <a:off x="8159682" y="1401252"/>
            <a:ext cx="1531222" cy="2455312"/>
          </a:xfrm>
          <a:custGeom>
            <a:avLst/>
            <a:gdLst/>
            <a:ahLst/>
            <a:cxnLst/>
            <a:rect l="l" t="t" r="r" b="b"/>
            <a:pathLst>
              <a:path w="1531222" h="2455312">
                <a:moveTo>
                  <a:pt x="0" y="0"/>
                </a:moveTo>
                <a:lnTo>
                  <a:pt x="1531222" y="0"/>
                </a:lnTo>
                <a:lnTo>
                  <a:pt x="1531222" y="2455312"/>
                </a:lnTo>
                <a:lnTo>
                  <a:pt x="0" y="2455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63672" y="1293318"/>
            <a:ext cx="1531222" cy="2455312"/>
          </a:xfrm>
          <a:custGeom>
            <a:avLst/>
            <a:gdLst/>
            <a:ahLst/>
            <a:cxnLst/>
            <a:rect l="l" t="t" r="r" b="b"/>
            <a:pathLst>
              <a:path w="1531222" h="2455312">
                <a:moveTo>
                  <a:pt x="0" y="0"/>
                </a:moveTo>
                <a:lnTo>
                  <a:pt x="1531221" y="0"/>
                </a:lnTo>
                <a:lnTo>
                  <a:pt x="1531221" y="2455311"/>
                </a:lnTo>
                <a:lnTo>
                  <a:pt x="0" y="24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052" name="Picture 4" descr="Adobe Stock">
            <a:extLst>
              <a:ext uri="{FF2B5EF4-FFF2-40B4-BE49-F238E27FC236}">
                <a16:creationId xmlns:a16="http://schemas.microsoft.com/office/drawing/2014/main" id="{1775FE5E-C53F-7712-5229-A43A06893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40" y="5102890"/>
            <a:ext cx="9601200" cy="185375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B639D79-E707-CA1F-1FE1-49E2FA150D27}"/>
              </a:ext>
            </a:extLst>
          </p:cNvPr>
          <p:cNvSpPr txBox="1"/>
          <p:nvPr/>
        </p:nvSpPr>
        <p:spPr>
          <a:xfrm>
            <a:off x="2323381" y="1169995"/>
            <a:ext cx="5259237" cy="2277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dirty="0">
                <a:solidFill>
                  <a:srgbClr val="372A2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 YOU</a:t>
            </a:r>
          </a:p>
          <a:p>
            <a:pPr algn="ctr"/>
            <a:r>
              <a:rPr lang="en-US" sz="2800" dirty="0">
                <a:solidFill>
                  <a:srgbClr val="372A2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&amp;</a:t>
            </a:r>
          </a:p>
          <a:p>
            <a:pPr algn="ctr"/>
            <a:r>
              <a:rPr lang="en-US" sz="6000" dirty="0">
                <a:solidFill>
                  <a:srgbClr val="372A2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269</Words>
  <Application>Microsoft Office PowerPoint</Application>
  <PresentationFormat>Custom</PresentationFormat>
  <Paragraphs>35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Wingdings</vt:lpstr>
      <vt:lpstr>Calibri</vt:lpstr>
      <vt:lpstr>ITC Avant Garde Gothic</vt:lpstr>
      <vt:lpstr>Impact</vt:lpstr>
      <vt:lpstr>Arial</vt:lpstr>
      <vt:lpstr>Times New Roman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Black Minimalist Pitch Deck Presentation</dc:title>
  <cp:lastModifiedBy>Lawrence Maina</cp:lastModifiedBy>
  <cp:revision>11</cp:revision>
  <dcterms:created xsi:type="dcterms:W3CDTF">2006-08-16T00:00:00Z</dcterms:created>
  <dcterms:modified xsi:type="dcterms:W3CDTF">2026-07-08T21:47:31Z</dcterms:modified>
  <dc:identifier>DAG3MJPtwgA</dc:identifier>
</cp:coreProperties>
</file>