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62" r:id="rId3"/>
    <p:sldId id="257" r:id="rId4"/>
    <p:sldId id="258" r:id="rId5"/>
    <p:sldId id="260" r:id="rId6"/>
    <p:sldId id="263" r:id="rId7"/>
    <p:sldId id="264" r:id="rId8"/>
    <p:sldId id="265" r:id="rId9"/>
  </p:sldIdLst>
  <p:sldSz cx="9753600" cy="7315200"/>
  <p:notesSz cx="6858000" cy="9144000"/>
  <p:embeddedFontLst>
    <p:embeddedFont>
      <p:font typeface="Fira Code" panose="020B0809050000020004" pitchFamily="49" charset="0"/>
      <p:regular r:id="rId11"/>
    </p:embeddedFont>
    <p:embeddedFont>
      <p:font typeface="ITC Avant Garde Gothic"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EFA9F61-B520-468B-8B39-154B6AB26D83}">
          <p14:sldIdLst>
            <p14:sldId id="256"/>
            <p14:sldId id="262"/>
            <p14:sldId id="257"/>
            <p14:sldId id="258"/>
            <p14:sldId id="260"/>
            <p14:sldId id="263"/>
            <p14:sldId id="264"/>
            <p14:sldId id="26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94" autoAdjust="0"/>
    <p:restoredTop sz="85992" autoAdjust="0"/>
  </p:normalViewPr>
  <p:slideViewPr>
    <p:cSldViewPr>
      <p:cViewPr varScale="1">
        <p:scale>
          <a:sx n="55" d="100"/>
          <a:sy n="55" d="100"/>
        </p:scale>
        <p:origin x="163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453F3-3E21-4BFF-9600-486A791CAFA6}" type="datetimeFigureOut">
              <a:rPr lang="en-US" smtClean="0"/>
              <a:t>11/30/2025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C48381-D345-48A3-A38C-EF89CB93696B}" type="slidenum">
              <a:rPr lang="en-US" smtClean="0"/>
              <a:t>‹#›</a:t>
            </a:fld>
            <a:endParaRPr lang="en-US"/>
          </a:p>
        </p:txBody>
      </p:sp>
    </p:spTree>
    <p:extLst>
      <p:ext uri="{BB962C8B-B14F-4D97-AF65-F5344CB8AC3E}">
        <p14:creationId xmlns:p14="http://schemas.microsoft.com/office/powerpoint/2010/main" val="3855808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We are Team Tutoring Planner. Today, we present our intelligent study assistant web platform. Each member will introduce their role and contribution.</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1</a:t>
            </a:fld>
            <a:endParaRPr lang="en-US"/>
          </a:p>
        </p:txBody>
      </p:sp>
    </p:spTree>
    <p:extLst>
      <p:ext uri="{BB962C8B-B14F-4D97-AF65-F5344CB8AC3E}">
        <p14:creationId xmlns:p14="http://schemas.microsoft.com/office/powerpoint/2010/main" val="1649370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main goal was to create a platform that helps students find tutors, manage their study plans, and get instant AI-powered help. The system is designed to make learning more organized and effective.</a:t>
            </a:r>
          </a:p>
        </p:txBody>
      </p:sp>
      <p:sp>
        <p:nvSpPr>
          <p:cNvPr id="4" name="Slide Number Placeholder 3"/>
          <p:cNvSpPr>
            <a:spLocks noGrp="1"/>
          </p:cNvSpPr>
          <p:nvPr>
            <p:ph type="sldNum" sz="quarter" idx="5"/>
          </p:nvPr>
        </p:nvSpPr>
        <p:spPr/>
        <p:txBody>
          <a:bodyPr/>
          <a:lstStyle/>
          <a:p>
            <a:fld id="{D2C48381-D345-48A3-A38C-EF89CB93696B}" type="slidenum">
              <a:rPr lang="en-US" smtClean="0"/>
              <a:t>3</a:t>
            </a:fld>
            <a:endParaRPr lang="en-US"/>
          </a:p>
        </p:txBody>
      </p:sp>
    </p:spTree>
    <p:extLst>
      <p:ext uri="{BB962C8B-B14F-4D97-AF65-F5344CB8AC3E}">
        <p14:creationId xmlns:p14="http://schemas.microsoft.com/office/powerpoint/2010/main" val="3403848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Tutoring Planner solves key problems: it makes it easy to find tutors, organize study plans, and get help instantly. Students and tutors save time and effort, and everyone can track their progress.</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4</a:t>
            </a:fld>
            <a:endParaRPr lang="en-US"/>
          </a:p>
        </p:txBody>
      </p:sp>
    </p:spTree>
    <p:extLst>
      <p:ext uri="{BB962C8B-B14F-4D97-AF65-F5344CB8AC3E}">
        <p14:creationId xmlns:p14="http://schemas.microsoft.com/office/powerpoint/2010/main" val="70985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Each member contributed to a specific part of the project. The Deployment Specialist handled hosting and deployment. The Repo Manager created and managed the repository and branches. The Manual Author wrote all documentation. The Presenter organized the demo. The AI-Reflection Writer integrated Gemini AI and documented our decisions and challenges.</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5</a:t>
            </a:fld>
            <a:endParaRPr lang="en-US"/>
          </a:p>
        </p:txBody>
      </p:sp>
    </p:spTree>
    <p:extLst>
      <p:ext uri="{BB962C8B-B14F-4D97-AF65-F5344CB8AC3E}">
        <p14:creationId xmlns:p14="http://schemas.microsoft.com/office/powerpoint/2010/main" val="3641472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faced several challenges, including integrating Gemini AI, managing user roles, ensuring real-time features, and coordinating team work. Deployment and environment setup also required careful attention.</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6</a:t>
            </a:fld>
            <a:endParaRPr lang="en-US"/>
          </a:p>
        </p:txBody>
      </p:sp>
    </p:spTree>
    <p:extLst>
      <p:ext uri="{BB962C8B-B14F-4D97-AF65-F5344CB8AC3E}">
        <p14:creationId xmlns:p14="http://schemas.microsoft.com/office/powerpoint/2010/main" val="98482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future work, we plan to add more features for tutors and students, improve the AI assistant, enhance the user interface, expand deployment options, and gather feedback to further improve the platform.</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7</a:t>
            </a:fld>
            <a:endParaRPr lang="en-US"/>
          </a:p>
        </p:txBody>
      </p:sp>
    </p:spTree>
    <p:extLst>
      <p:ext uri="{BB962C8B-B14F-4D97-AF65-F5344CB8AC3E}">
        <p14:creationId xmlns:p14="http://schemas.microsoft.com/office/powerpoint/2010/main" val="150406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Thank you for your attention! We are ready to answer any questions you may have about our project.</a:t>
            </a:r>
          </a:p>
          <a:p>
            <a:endParaRPr lang="en-US" dirty="0"/>
          </a:p>
        </p:txBody>
      </p:sp>
      <p:sp>
        <p:nvSpPr>
          <p:cNvPr id="4" name="Slide Number Placeholder 3"/>
          <p:cNvSpPr>
            <a:spLocks noGrp="1"/>
          </p:cNvSpPr>
          <p:nvPr>
            <p:ph type="sldNum" sz="quarter" idx="5"/>
          </p:nvPr>
        </p:nvSpPr>
        <p:spPr/>
        <p:txBody>
          <a:bodyPr/>
          <a:lstStyle/>
          <a:p>
            <a:fld id="{D2C48381-D345-48A3-A38C-EF89CB93696B}" type="slidenum">
              <a:rPr lang="en-US" smtClean="0"/>
              <a:t>8</a:t>
            </a:fld>
            <a:endParaRPr lang="en-US"/>
          </a:p>
        </p:txBody>
      </p:sp>
    </p:spTree>
    <p:extLst>
      <p:ext uri="{BB962C8B-B14F-4D97-AF65-F5344CB8AC3E}">
        <p14:creationId xmlns:p14="http://schemas.microsoft.com/office/powerpoint/2010/main" val="126959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grpSp>
        <p:nvGrpSpPr>
          <p:cNvPr id="4" name="Group 4"/>
          <p:cNvGrpSpPr/>
          <p:nvPr/>
        </p:nvGrpSpPr>
        <p:grpSpPr>
          <a:xfrm>
            <a:off x="0" y="5501150"/>
            <a:ext cx="9753600" cy="1814050"/>
            <a:chOff x="0" y="0"/>
            <a:chExt cx="3612444" cy="671870"/>
          </a:xfrm>
        </p:grpSpPr>
        <p:sp>
          <p:nvSpPr>
            <p:cNvPr id="5" name="Freeform 5"/>
            <p:cNvSpPr/>
            <p:nvPr/>
          </p:nvSpPr>
          <p:spPr>
            <a:xfrm>
              <a:off x="0" y="0"/>
              <a:ext cx="3612445" cy="671870"/>
            </a:xfrm>
            <a:custGeom>
              <a:avLst/>
              <a:gdLst/>
              <a:ahLst/>
              <a:cxnLst/>
              <a:rect l="l" t="t" r="r" b="b"/>
              <a:pathLst>
                <a:path w="3612445" h="671870">
                  <a:moveTo>
                    <a:pt x="0" y="0"/>
                  </a:moveTo>
                  <a:lnTo>
                    <a:pt x="3612445" y="0"/>
                  </a:lnTo>
                  <a:lnTo>
                    <a:pt x="3612445" y="671870"/>
                  </a:lnTo>
                  <a:lnTo>
                    <a:pt x="0" y="671870"/>
                  </a:lnTo>
                  <a:close/>
                </a:path>
              </a:pathLst>
            </a:custGeom>
            <a:solidFill>
              <a:srgbClr val="000000"/>
            </a:solidFill>
            <a:ln w="19050" cap="sq">
              <a:solidFill>
                <a:srgbClr val="000000"/>
              </a:solidFill>
              <a:prstDash val="solid"/>
              <a:miter/>
            </a:ln>
          </p:spPr>
          <p:txBody>
            <a:bodyPr/>
            <a:lstStyle/>
            <a:p>
              <a:endParaRPr lang="en-US"/>
            </a:p>
          </p:txBody>
        </p:sp>
        <p:sp>
          <p:nvSpPr>
            <p:cNvPr id="6" name="TextBox 6"/>
            <p:cNvSpPr txBox="1"/>
            <p:nvPr/>
          </p:nvSpPr>
          <p:spPr>
            <a:xfrm>
              <a:off x="0" y="-9525"/>
              <a:ext cx="3612444" cy="681395"/>
            </a:xfrm>
            <a:prstGeom prst="rect">
              <a:avLst/>
            </a:prstGeom>
          </p:spPr>
          <p:txBody>
            <a:bodyPr lIns="50800" tIns="50800" rIns="50800" bIns="50800" rtlCol="0" anchor="ctr"/>
            <a:lstStyle/>
            <a:p>
              <a:pPr algn="ctr">
                <a:lnSpc>
                  <a:spcPts val="2160"/>
                </a:lnSpc>
              </a:pPr>
              <a:endParaRPr/>
            </a:p>
          </p:txBody>
        </p:sp>
      </p:grpSp>
      <p:sp>
        <p:nvSpPr>
          <p:cNvPr id="7" name="TextBox 7"/>
          <p:cNvSpPr txBox="1"/>
          <p:nvPr/>
        </p:nvSpPr>
        <p:spPr>
          <a:xfrm>
            <a:off x="187569" y="762000"/>
            <a:ext cx="6248398" cy="1460913"/>
          </a:xfrm>
          <a:prstGeom prst="rect">
            <a:avLst/>
          </a:prstGeom>
        </p:spPr>
        <p:txBody>
          <a:bodyPr wrap="square" lIns="0" tIns="0" rIns="0" bIns="0" rtlCol="0" anchor="t">
            <a:spAutoFit/>
          </a:bodyPr>
          <a:lstStyle/>
          <a:p>
            <a:pPr algn="l">
              <a:lnSpc>
                <a:spcPts val="12000"/>
              </a:lnSpc>
            </a:pPr>
            <a:r>
              <a:rPr lang="en-US" sz="9200" dirty="0">
                <a:solidFill>
                  <a:srgbClr val="372A28"/>
                </a:solidFill>
                <a:latin typeface="ITC Avant Garde Gothic"/>
                <a:ea typeface="ITC Avant Garde Gothic"/>
                <a:cs typeface="ITC Avant Garde Gothic"/>
                <a:sym typeface="ITC Avant Garde Gothic"/>
              </a:rPr>
              <a:t>TutorNova</a:t>
            </a:r>
          </a:p>
        </p:txBody>
      </p:sp>
      <p:sp>
        <p:nvSpPr>
          <p:cNvPr id="8" name="TextBox 8"/>
          <p:cNvSpPr txBox="1"/>
          <p:nvPr/>
        </p:nvSpPr>
        <p:spPr>
          <a:xfrm>
            <a:off x="152400" y="6043360"/>
            <a:ext cx="4876800" cy="703911"/>
          </a:xfrm>
          <a:prstGeom prst="rect">
            <a:avLst/>
          </a:prstGeom>
        </p:spPr>
        <p:txBody>
          <a:bodyPr wrap="square" lIns="0" tIns="0" rIns="0" bIns="0" rtlCol="0" anchor="t">
            <a:spAutoFit/>
          </a:bodyPr>
          <a:lstStyle/>
          <a:p>
            <a:pPr>
              <a:lnSpc>
                <a:spcPts val="2800"/>
              </a:lnSpc>
            </a:pPr>
            <a:r>
              <a:rPr lang="en-US" sz="2000" dirty="0">
                <a:solidFill>
                  <a:srgbClr val="FFFFFF"/>
                </a:solidFill>
                <a:latin typeface="Fira Code"/>
                <a:ea typeface="Fira Code"/>
                <a:cs typeface="Fira Code"/>
                <a:sym typeface="Fira Code"/>
              </a:rPr>
              <a:t>TUTORING PLANNER: AN INTELLIGENT STUDY ASSISTANT</a:t>
            </a:r>
          </a:p>
        </p:txBody>
      </p:sp>
      <p:sp>
        <p:nvSpPr>
          <p:cNvPr id="9" name="Freeform 9"/>
          <p:cNvSpPr/>
          <p:nvPr/>
        </p:nvSpPr>
        <p:spPr>
          <a:xfrm rot="5400000">
            <a:off x="2427526" y="2296875"/>
            <a:ext cx="1088547" cy="3810000"/>
          </a:xfrm>
          <a:custGeom>
            <a:avLst/>
            <a:gdLst/>
            <a:ahLst/>
            <a:cxnLst/>
            <a:rect l="l" t="t" r="r" b="b"/>
            <a:pathLst>
              <a:path w="586416" h="1662520">
                <a:moveTo>
                  <a:pt x="0" y="0"/>
                </a:moveTo>
                <a:lnTo>
                  <a:pt x="586416" y="0"/>
                </a:lnTo>
                <a:lnTo>
                  <a:pt x="586416" y="1662520"/>
                </a:lnTo>
                <a:lnTo>
                  <a:pt x="0" y="16625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3" name="Picture 12">
            <a:extLst>
              <a:ext uri="{FF2B5EF4-FFF2-40B4-BE49-F238E27FC236}">
                <a16:creationId xmlns:a16="http://schemas.microsoft.com/office/drawing/2014/main" id="{B54B657A-7FAD-DCA1-21F3-3FFE02991EB5}"/>
              </a:ext>
            </a:extLst>
          </p:cNvPr>
          <p:cNvPicPr>
            <a:picLocks noChangeAspect="1"/>
          </p:cNvPicPr>
          <p:nvPr/>
        </p:nvPicPr>
        <p:blipFill>
          <a:blip r:embed="rId5"/>
          <a:stretch>
            <a:fillRect/>
          </a:stretch>
        </p:blipFill>
        <p:spPr>
          <a:xfrm>
            <a:off x="5943600" y="-785446"/>
            <a:ext cx="3349941" cy="7338646"/>
          </a:xfrm>
          <a:prstGeom prst="roundRect">
            <a:avLst>
              <a:gd name="adj" fmla="val 16667"/>
            </a:avLst>
          </a:prstGeom>
          <a:ln w="38100">
            <a:solidFill>
              <a:srgbClr val="FF0000"/>
            </a:solid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TextBox 2"/>
          <p:cNvSpPr txBox="1"/>
          <p:nvPr/>
        </p:nvSpPr>
        <p:spPr>
          <a:xfrm>
            <a:off x="509037" y="429646"/>
            <a:ext cx="9106006" cy="853311"/>
          </a:xfrm>
          <a:prstGeom prst="rect">
            <a:avLst/>
          </a:prstGeom>
        </p:spPr>
        <p:txBody>
          <a:bodyPr wrap="square" lIns="0" tIns="0" rIns="0" bIns="0" rtlCol="0" anchor="t">
            <a:spAutoFit/>
          </a:bodyPr>
          <a:lstStyle/>
          <a:p>
            <a:pPr algn="ctr">
              <a:lnSpc>
                <a:spcPts val="6999"/>
              </a:lnSpc>
            </a:pPr>
            <a:r>
              <a:rPr lang="en-US" sz="5400" b="1" dirty="0">
                <a:solidFill>
                  <a:srgbClr val="372A28"/>
                </a:solidFill>
                <a:latin typeface="ITC Avant Garde Gothic"/>
                <a:ea typeface="ITC Avant Garde Gothic"/>
                <a:cs typeface="ITC Avant Garde Gothic"/>
                <a:sym typeface="ITC Avant Garde Gothic"/>
              </a:rPr>
              <a:t>TEAM MEMBERS &amp; ROLES</a:t>
            </a:r>
          </a:p>
        </p:txBody>
      </p:sp>
      <p:grpSp>
        <p:nvGrpSpPr>
          <p:cNvPr id="20" name="Group 19">
            <a:extLst>
              <a:ext uri="{FF2B5EF4-FFF2-40B4-BE49-F238E27FC236}">
                <a16:creationId xmlns:a16="http://schemas.microsoft.com/office/drawing/2014/main" id="{E8212BA0-4169-4B19-4936-579D68381137}"/>
              </a:ext>
            </a:extLst>
          </p:cNvPr>
          <p:cNvGrpSpPr/>
          <p:nvPr/>
        </p:nvGrpSpPr>
        <p:grpSpPr>
          <a:xfrm>
            <a:off x="2705362" y="1933645"/>
            <a:ext cx="4342875" cy="1177441"/>
            <a:chOff x="159826" y="2763011"/>
            <a:chExt cx="4342875" cy="1177441"/>
          </a:xfrm>
        </p:grpSpPr>
        <p:grpSp>
          <p:nvGrpSpPr>
            <p:cNvPr id="3" name="Group 3"/>
            <p:cNvGrpSpPr/>
            <p:nvPr/>
          </p:nvGrpSpPr>
          <p:grpSpPr>
            <a:xfrm>
              <a:off x="159826" y="2763011"/>
              <a:ext cx="4342875" cy="1177441"/>
              <a:chOff x="-2171" y="-9525"/>
              <a:chExt cx="1608472" cy="436090"/>
            </a:xfrm>
          </p:grpSpPr>
          <p:sp>
            <p:nvSpPr>
              <p:cNvPr id="4" name="Freeform 4"/>
              <p:cNvSpPr/>
              <p:nvPr/>
            </p:nvSpPr>
            <p:spPr>
              <a:xfrm>
                <a:off x="-2171" y="-4763"/>
                <a:ext cx="1606301" cy="426565"/>
              </a:xfrm>
              <a:custGeom>
                <a:avLst/>
                <a:gdLst/>
                <a:ahLst/>
                <a:cxnLst/>
                <a:rect l="l" t="t" r="r" b="b"/>
                <a:pathLst>
                  <a:path w="1606301" h="426565">
                    <a:moveTo>
                      <a:pt x="178508" y="0"/>
                    </a:moveTo>
                    <a:lnTo>
                      <a:pt x="1427793" y="0"/>
                    </a:lnTo>
                    <a:cubicBezTo>
                      <a:pt x="1475136" y="0"/>
                      <a:pt x="1520541" y="18807"/>
                      <a:pt x="1554017" y="52284"/>
                    </a:cubicBezTo>
                    <a:cubicBezTo>
                      <a:pt x="1587494" y="85761"/>
                      <a:pt x="1606301" y="131165"/>
                      <a:pt x="1606301" y="178508"/>
                    </a:cubicBezTo>
                    <a:lnTo>
                      <a:pt x="1606301" y="248056"/>
                    </a:lnTo>
                    <a:cubicBezTo>
                      <a:pt x="1606301" y="295400"/>
                      <a:pt x="1587494" y="340804"/>
                      <a:pt x="1554017" y="374281"/>
                    </a:cubicBezTo>
                    <a:cubicBezTo>
                      <a:pt x="1520541" y="407758"/>
                      <a:pt x="1475136" y="426565"/>
                      <a:pt x="1427793" y="426565"/>
                    </a:cubicBezTo>
                    <a:lnTo>
                      <a:pt x="178508" y="426565"/>
                    </a:lnTo>
                    <a:cubicBezTo>
                      <a:pt x="131165" y="426565"/>
                      <a:pt x="85761" y="407758"/>
                      <a:pt x="52284" y="374281"/>
                    </a:cubicBezTo>
                    <a:cubicBezTo>
                      <a:pt x="18807" y="340804"/>
                      <a:pt x="0" y="295400"/>
                      <a:pt x="0" y="248056"/>
                    </a:cubicBezTo>
                    <a:lnTo>
                      <a:pt x="0" y="178508"/>
                    </a:lnTo>
                    <a:cubicBezTo>
                      <a:pt x="0" y="131165"/>
                      <a:pt x="18807" y="85761"/>
                      <a:pt x="52284" y="52284"/>
                    </a:cubicBezTo>
                    <a:cubicBezTo>
                      <a:pt x="85761" y="18807"/>
                      <a:pt x="131165" y="0"/>
                      <a:pt x="178508" y="0"/>
                    </a:cubicBezTo>
                    <a:close/>
                  </a:path>
                </a:pathLst>
              </a:custGeom>
              <a:solidFill>
                <a:srgbClr val="000000"/>
              </a:solidFill>
              <a:ln w="19050" cap="rnd">
                <a:solidFill>
                  <a:srgbClr val="000000"/>
                </a:solidFill>
                <a:prstDash val="solid"/>
                <a:round/>
              </a:ln>
            </p:spPr>
            <p:txBody>
              <a:bodyPr/>
              <a:lstStyle/>
              <a:p>
                <a:endParaRPr lang="en-US" dirty="0"/>
              </a:p>
            </p:txBody>
          </p:sp>
          <p:sp>
            <p:nvSpPr>
              <p:cNvPr id="5" name="TextBox 5"/>
              <p:cNvSpPr txBox="1"/>
              <p:nvPr/>
            </p:nvSpPr>
            <p:spPr>
              <a:xfrm>
                <a:off x="0" y="-9525"/>
                <a:ext cx="1606301" cy="436090"/>
              </a:xfrm>
              <a:prstGeom prst="rect">
                <a:avLst/>
              </a:prstGeom>
            </p:spPr>
            <p:txBody>
              <a:bodyPr lIns="50800" tIns="50800" rIns="50800" bIns="50800" rtlCol="0" anchor="ctr"/>
              <a:lstStyle/>
              <a:p>
                <a:pPr algn="ctr">
                  <a:lnSpc>
                    <a:spcPts val="2160"/>
                  </a:lnSpc>
                </a:pPr>
                <a:endParaRPr/>
              </a:p>
            </p:txBody>
          </p:sp>
        </p:grpSp>
        <p:sp>
          <p:nvSpPr>
            <p:cNvPr id="6" name="TextBox 6"/>
            <p:cNvSpPr txBox="1"/>
            <p:nvPr/>
          </p:nvSpPr>
          <p:spPr>
            <a:xfrm>
              <a:off x="542511" y="3033190"/>
              <a:ext cx="3018540" cy="561692"/>
            </a:xfrm>
            <a:prstGeom prst="rect">
              <a:avLst/>
            </a:prstGeom>
          </p:spPr>
          <p:txBody>
            <a:bodyPr lIns="0" tIns="0" rIns="0" bIns="0" rtlCol="0" anchor="t">
              <a:spAutoFit/>
            </a:bodyPr>
            <a:lstStyle/>
            <a:p>
              <a:pPr algn="ctr">
                <a:lnSpc>
                  <a:spcPts val="2160"/>
                </a:lnSpc>
              </a:pPr>
              <a:r>
                <a:rPr lang="en-US" sz="1800" dirty="0">
                  <a:solidFill>
                    <a:srgbClr val="FFFFFF"/>
                  </a:solidFill>
                  <a:latin typeface="Fira Code"/>
                  <a:ea typeface="Fira Code"/>
                  <a:cs typeface="Fira Code"/>
                  <a:sym typeface="Fira Code"/>
                </a:rPr>
                <a:t>Dedeepya Chaalika Chukka</a:t>
              </a:r>
              <a:r>
                <a:rPr lang="en-US" dirty="0">
                  <a:solidFill>
                    <a:srgbClr val="FFFFFF"/>
                  </a:solidFill>
                  <a:latin typeface="Fira Code"/>
                  <a:ea typeface="Fira Code"/>
                  <a:cs typeface="Fira Code"/>
                  <a:sym typeface="Fira Code"/>
                </a:rPr>
                <a:t>: Presenter</a:t>
              </a:r>
              <a:endParaRPr lang="en-US" sz="1800" dirty="0">
                <a:solidFill>
                  <a:srgbClr val="FFFFFF"/>
                </a:solidFill>
                <a:latin typeface="Fira Code"/>
                <a:ea typeface="Fira Code"/>
                <a:cs typeface="Fira Code"/>
                <a:sym typeface="Fira Code"/>
              </a:endParaRPr>
            </a:p>
          </p:txBody>
        </p:sp>
      </p:grpSp>
      <p:grpSp>
        <p:nvGrpSpPr>
          <p:cNvPr id="21" name="Group 20">
            <a:extLst>
              <a:ext uri="{FF2B5EF4-FFF2-40B4-BE49-F238E27FC236}">
                <a16:creationId xmlns:a16="http://schemas.microsoft.com/office/drawing/2014/main" id="{E169C2BF-B7A7-7D99-B32E-35FF66C8D0E2}"/>
              </a:ext>
            </a:extLst>
          </p:cNvPr>
          <p:cNvGrpSpPr/>
          <p:nvPr/>
        </p:nvGrpSpPr>
        <p:grpSpPr>
          <a:xfrm>
            <a:off x="5278030" y="3944398"/>
            <a:ext cx="4337013" cy="1151724"/>
            <a:chOff x="165688" y="2788728"/>
            <a:chExt cx="4337013" cy="1151724"/>
          </a:xfrm>
        </p:grpSpPr>
        <p:grpSp>
          <p:nvGrpSpPr>
            <p:cNvPr id="22" name="Group 3">
              <a:extLst>
                <a:ext uri="{FF2B5EF4-FFF2-40B4-BE49-F238E27FC236}">
                  <a16:creationId xmlns:a16="http://schemas.microsoft.com/office/drawing/2014/main" id="{BFB9AF34-CD19-4C24-A27A-BD3548D33544}"/>
                </a:ext>
              </a:extLst>
            </p:cNvPr>
            <p:cNvGrpSpPr/>
            <p:nvPr/>
          </p:nvGrpSpPr>
          <p:grpSpPr>
            <a:xfrm>
              <a:off x="165688" y="2788728"/>
              <a:ext cx="4337013" cy="1151724"/>
              <a:chOff x="0" y="0"/>
              <a:chExt cx="1606301" cy="426565"/>
            </a:xfrm>
          </p:grpSpPr>
          <p:sp>
            <p:nvSpPr>
              <p:cNvPr id="24" name="Freeform 4">
                <a:extLst>
                  <a:ext uri="{FF2B5EF4-FFF2-40B4-BE49-F238E27FC236}">
                    <a16:creationId xmlns:a16="http://schemas.microsoft.com/office/drawing/2014/main" id="{8E33B3EC-4129-CCE8-75A4-D37A1B8FEE91}"/>
                  </a:ext>
                </a:extLst>
              </p:cNvPr>
              <p:cNvSpPr/>
              <p:nvPr/>
            </p:nvSpPr>
            <p:spPr>
              <a:xfrm>
                <a:off x="0" y="0"/>
                <a:ext cx="1606301" cy="426565"/>
              </a:xfrm>
              <a:custGeom>
                <a:avLst/>
                <a:gdLst/>
                <a:ahLst/>
                <a:cxnLst/>
                <a:rect l="l" t="t" r="r" b="b"/>
                <a:pathLst>
                  <a:path w="1606301" h="426565">
                    <a:moveTo>
                      <a:pt x="178508" y="0"/>
                    </a:moveTo>
                    <a:lnTo>
                      <a:pt x="1427793" y="0"/>
                    </a:lnTo>
                    <a:cubicBezTo>
                      <a:pt x="1475136" y="0"/>
                      <a:pt x="1520541" y="18807"/>
                      <a:pt x="1554017" y="52284"/>
                    </a:cubicBezTo>
                    <a:cubicBezTo>
                      <a:pt x="1587494" y="85761"/>
                      <a:pt x="1606301" y="131165"/>
                      <a:pt x="1606301" y="178508"/>
                    </a:cubicBezTo>
                    <a:lnTo>
                      <a:pt x="1606301" y="248056"/>
                    </a:lnTo>
                    <a:cubicBezTo>
                      <a:pt x="1606301" y="295400"/>
                      <a:pt x="1587494" y="340804"/>
                      <a:pt x="1554017" y="374281"/>
                    </a:cubicBezTo>
                    <a:cubicBezTo>
                      <a:pt x="1520541" y="407758"/>
                      <a:pt x="1475136" y="426565"/>
                      <a:pt x="1427793" y="426565"/>
                    </a:cubicBezTo>
                    <a:lnTo>
                      <a:pt x="178508" y="426565"/>
                    </a:lnTo>
                    <a:cubicBezTo>
                      <a:pt x="131165" y="426565"/>
                      <a:pt x="85761" y="407758"/>
                      <a:pt x="52284" y="374281"/>
                    </a:cubicBezTo>
                    <a:cubicBezTo>
                      <a:pt x="18807" y="340804"/>
                      <a:pt x="0" y="295400"/>
                      <a:pt x="0" y="248056"/>
                    </a:cubicBezTo>
                    <a:lnTo>
                      <a:pt x="0" y="178508"/>
                    </a:lnTo>
                    <a:cubicBezTo>
                      <a:pt x="0" y="131165"/>
                      <a:pt x="18807" y="85761"/>
                      <a:pt x="52284" y="52284"/>
                    </a:cubicBezTo>
                    <a:cubicBezTo>
                      <a:pt x="85761" y="18807"/>
                      <a:pt x="131165" y="0"/>
                      <a:pt x="178508" y="0"/>
                    </a:cubicBezTo>
                    <a:close/>
                  </a:path>
                </a:pathLst>
              </a:custGeom>
              <a:solidFill>
                <a:srgbClr val="000000"/>
              </a:solidFill>
              <a:ln w="19050" cap="rnd">
                <a:solidFill>
                  <a:srgbClr val="000000"/>
                </a:solidFill>
                <a:prstDash val="solid"/>
                <a:round/>
              </a:ln>
            </p:spPr>
            <p:txBody>
              <a:bodyPr/>
              <a:lstStyle/>
              <a:p>
                <a:endParaRPr lang="en-US" dirty="0"/>
              </a:p>
            </p:txBody>
          </p:sp>
          <p:sp>
            <p:nvSpPr>
              <p:cNvPr id="25" name="TextBox 5">
                <a:extLst>
                  <a:ext uri="{FF2B5EF4-FFF2-40B4-BE49-F238E27FC236}">
                    <a16:creationId xmlns:a16="http://schemas.microsoft.com/office/drawing/2014/main" id="{2A22AFE8-3E4B-1592-B9C8-0014C8435C89}"/>
                  </a:ext>
                </a:extLst>
              </p:cNvPr>
              <p:cNvSpPr txBox="1"/>
              <p:nvPr/>
            </p:nvSpPr>
            <p:spPr>
              <a:xfrm>
                <a:off x="0" y="-9525"/>
                <a:ext cx="1606301" cy="436090"/>
              </a:xfrm>
              <a:prstGeom prst="rect">
                <a:avLst/>
              </a:prstGeom>
            </p:spPr>
            <p:txBody>
              <a:bodyPr lIns="50800" tIns="50800" rIns="50800" bIns="50800" rtlCol="0" anchor="ctr"/>
              <a:lstStyle/>
              <a:p>
                <a:pPr algn="ctr">
                  <a:lnSpc>
                    <a:spcPts val="2160"/>
                  </a:lnSpc>
                </a:pPr>
                <a:endParaRPr/>
              </a:p>
            </p:txBody>
          </p:sp>
        </p:grpSp>
        <p:sp>
          <p:nvSpPr>
            <p:cNvPr id="23" name="TextBox 6">
              <a:extLst>
                <a:ext uri="{FF2B5EF4-FFF2-40B4-BE49-F238E27FC236}">
                  <a16:creationId xmlns:a16="http://schemas.microsoft.com/office/drawing/2014/main" id="{9BC4057E-4E24-FE44-4018-575995905B0B}"/>
                </a:ext>
              </a:extLst>
            </p:cNvPr>
            <p:cNvSpPr txBox="1"/>
            <p:nvPr/>
          </p:nvSpPr>
          <p:spPr>
            <a:xfrm>
              <a:off x="409040" y="3070885"/>
              <a:ext cx="3018540" cy="561692"/>
            </a:xfrm>
            <a:prstGeom prst="rect">
              <a:avLst/>
            </a:prstGeom>
          </p:spPr>
          <p:txBody>
            <a:bodyPr lIns="0" tIns="0" rIns="0" bIns="0" rtlCol="0" anchor="t">
              <a:spAutoFit/>
            </a:bodyPr>
            <a:lstStyle/>
            <a:p>
              <a:pPr algn="ctr">
                <a:lnSpc>
                  <a:spcPts val="2160"/>
                </a:lnSpc>
              </a:pPr>
              <a:r>
                <a:rPr lang="en-US" dirty="0">
                  <a:solidFill>
                    <a:srgbClr val="FFFFFF"/>
                  </a:solidFill>
                  <a:latin typeface="Fira Code"/>
                  <a:ea typeface="Fira Code"/>
                  <a:cs typeface="Fira Code"/>
                  <a:sym typeface="Fira Code"/>
                </a:rPr>
                <a:t>Mani Manvith Devineni: Repo Manager</a:t>
              </a:r>
            </a:p>
          </p:txBody>
        </p:sp>
      </p:grpSp>
      <p:grpSp>
        <p:nvGrpSpPr>
          <p:cNvPr id="26" name="Group 25">
            <a:extLst>
              <a:ext uri="{FF2B5EF4-FFF2-40B4-BE49-F238E27FC236}">
                <a16:creationId xmlns:a16="http://schemas.microsoft.com/office/drawing/2014/main" id="{F7C14FE8-5F93-E9FD-BA4B-49E62E585926}"/>
              </a:ext>
            </a:extLst>
          </p:cNvPr>
          <p:cNvGrpSpPr/>
          <p:nvPr/>
        </p:nvGrpSpPr>
        <p:grpSpPr>
          <a:xfrm>
            <a:off x="260304" y="3944398"/>
            <a:ext cx="4337013" cy="1151724"/>
            <a:chOff x="165688" y="2788728"/>
            <a:chExt cx="4337013" cy="1151724"/>
          </a:xfrm>
        </p:grpSpPr>
        <p:grpSp>
          <p:nvGrpSpPr>
            <p:cNvPr id="27" name="Group 3">
              <a:extLst>
                <a:ext uri="{FF2B5EF4-FFF2-40B4-BE49-F238E27FC236}">
                  <a16:creationId xmlns:a16="http://schemas.microsoft.com/office/drawing/2014/main" id="{AFF79C3D-D17A-C3D8-062D-47FE05106D8B}"/>
                </a:ext>
              </a:extLst>
            </p:cNvPr>
            <p:cNvGrpSpPr/>
            <p:nvPr/>
          </p:nvGrpSpPr>
          <p:grpSpPr>
            <a:xfrm>
              <a:off x="165688" y="2788728"/>
              <a:ext cx="4337013" cy="1151724"/>
              <a:chOff x="0" y="0"/>
              <a:chExt cx="1606301" cy="426565"/>
            </a:xfrm>
          </p:grpSpPr>
          <p:sp>
            <p:nvSpPr>
              <p:cNvPr id="29" name="Freeform 4">
                <a:extLst>
                  <a:ext uri="{FF2B5EF4-FFF2-40B4-BE49-F238E27FC236}">
                    <a16:creationId xmlns:a16="http://schemas.microsoft.com/office/drawing/2014/main" id="{E8A2234A-7BD1-2F7E-7D82-3417622264AC}"/>
                  </a:ext>
                </a:extLst>
              </p:cNvPr>
              <p:cNvSpPr/>
              <p:nvPr/>
            </p:nvSpPr>
            <p:spPr>
              <a:xfrm>
                <a:off x="0" y="0"/>
                <a:ext cx="1606301" cy="426565"/>
              </a:xfrm>
              <a:custGeom>
                <a:avLst/>
                <a:gdLst/>
                <a:ahLst/>
                <a:cxnLst/>
                <a:rect l="l" t="t" r="r" b="b"/>
                <a:pathLst>
                  <a:path w="1606301" h="426565">
                    <a:moveTo>
                      <a:pt x="178508" y="0"/>
                    </a:moveTo>
                    <a:lnTo>
                      <a:pt x="1427793" y="0"/>
                    </a:lnTo>
                    <a:cubicBezTo>
                      <a:pt x="1475136" y="0"/>
                      <a:pt x="1520541" y="18807"/>
                      <a:pt x="1554017" y="52284"/>
                    </a:cubicBezTo>
                    <a:cubicBezTo>
                      <a:pt x="1587494" y="85761"/>
                      <a:pt x="1606301" y="131165"/>
                      <a:pt x="1606301" y="178508"/>
                    </a:cubicBezTo>
                    <a:lnTo>
                      <a:pt x="1606301" y="248056"/>
                    </a:lnTo>
                    <a:cubicBezTo>
                      <a:pt x="1606301" y="295400"/>
                      <a:pt x="1587494" y="340804"/>
                      <a:pt x="1554017" y="374281"/>
                    </a:cubicBezTo>
                    <a:cubicBezTo>
                      <a:pt x="1520541" y="407758"/>
                      <a:pt x="1475136" y="426565"/>
                      <a:pt x="1427793" y="426565"/>
                    </a:cubicBezTo>
                    <a:lnTo>
                      <a:pt x="178508" y="426565"/>
                    </a:lnTo>
                    <a:cubicBezTo>
                      <a:pt x="131165" y="426565"/>
                      <a:pt x="85761" y="407758"/>
                      <a:pt x="52284" y="374281"/>
                    </a:cubicBezTo>
                    <a:cubicBezTo>
                      <a:pt x="18807" y="340804"/>
                      <a:pt x="0" y="295400"/>
                      <a:pt x="0" y="248056"/>
                    </a:cubicBezTo>
                    <a:lnTo>
                      <a:pt x="0" y="178508"/>
                    </a:lnTo>
                    <a:cubicBezTo>
                      <a:pt x="0" y="131165"/>
                      <a:pt x="18807" y="85761"/>
                      <a:pt x="52284" y="52284"/>
                    </a:cubicBezTo>
                    <a:cubicBezTo>
                      <a:pt x="85761" y="18807"/>
                      <a:pt x="131165" y="0"/>
                      <a:pt x="178508" y="0"/>
                    </a:cubicBezTo>
                    <a:close/>
                  </a:path>
                </a:pathLst>
              </a:custGeom>
              <a:solidFill>
                <a:srgbClr val="000000"/>
              </a:solidFill>
              <a:ln w="19050" cap="rnd">
                <a:solidFill>
                  <a:srgbClr val="000000"/>
                </a:solidFill>
                <a:prstDash val="solid"/>
                <a:round/>
              </a:ln>
            </p:spPr>
            <p:txBody>
              <a:bodyPr/>
              <a:lstStyle/>
              <a:p>
                <a:endParaRPr lang="en-US" dirty="0"/>
              </a:p>
            </p:txBody>
          </p:sp>
          <p:sp>
            <p:nvSpPr>
              <p:cNvPr id="30" name="TextBox 5">
                <a:extLst>
                  <a:ext uri="{FF2B5EF4-FFF2-40B4-BE49-F238E27FC236}">
                    <a16:creationId xmlns:a16="http://schemas.microsoft.com/office/drawing/2014/main" id="{86964529-1746-32EB-76B0-BE3E360D81D9}"/>
                  </a:ext>
                </a:extLst>
              </p:cNvPr>
              <p:cNvSpPr txBox="1"/>
              <p:nvPr/>
            </p:nvSpPr>
            <p:spPr>
              <a:xfrm>
                <a:off x="0" y="-9525"/>
                <a:ext cx="1606301" cy="436090"/>
              </a:xfrm>
              <a:prstGeom prst="rect">
                <a:avLst/>
              </a:prstGeom>
            </p:spPr>
            <p:txBody>
              <a:bodyPr lIns="50800" tIns="50800" rIns="50800" bIns="50800" rtlCol="0" anchor="ctr"/>
              <a:lstStyle/>
              <a:p>
                <a:pPr algn="ctr">
                  <a:lnSpc>
                    <a:spcPts val="2160"/>
                  </a:lnSpc>
                </a:pPr>
                <a:endParaRPr/>
              </a:p>
            </p:txBody>
          </p:sp>
        </p:grpSp>
        <p:sp>
          <p:nvSpPr>
            <p:cNvPr id="28" name="TextBox 6">
              <a:extLst>
                <a:ext uri="{FF2B5EF4-FFF2-40B4-BE49-F238E27FC236}">
                  <a16:creationId xmlns:a16="http://schemas.microsoft.com/office/drawing/2014/main" id="{63B00D4A-9EA2-75D0-6D60-D1DFF1CC98D7}"/>
                </a:ext>
              </a:extLst>
            </p:cNvPr>
            <p:cNvSpPr txBox="1"/>
            <p:nvPr/>
          </p:nvSpPr>
          <p:spPr>
            <a:xfrm>
              <a:off x="536739" y="3083744"/>
              <a:ext cx="3018540" cy="561692"/>
            </a:xfrm>
            <a:prstGeom prst="rect">
              <a:avLst/>
            </a:prstGeom>
          </p:spPr>
          <p:txBody>
            <a:bodyPr lIns="0" tIns="0" rIns="0" bIns="0" rtlCol="0" anchor="t">
              <a:spAutoFit/>
            </a:bodyPr>
            <a:lstStyle/>
            <a:p>
              <a:pPr algn="ctr">
                <a:lnSpc>
                  <a:spcPts val="2160"/>
                </a:lnSpc>
              </a:pPr>
              <a:r>
                <a:rPr lang="en-US" dirty="0" err="1">
                  <a:solidFill>
                    <a:srgbClr val="FFFFFF"/>
                  </a:solidFill>
                  <a:latin typeface="Fira Code"/>
                  <a:ea typeface="Fira Code"/>
                  <a:cs typeface="Fira Code"/>
                  <a:sym typeface="Fira Code"/>
                </a:rPr>
                <a:t>Vinshnu</a:t>
              </a:r>
              <a:r>
                <a:rPr lang="en-US" dirty="0">
                  <a:solidFill>
                    <a:srgbClr val="FFFFFF"/>
                  </a:solidFill>
                  <a:latin typeface="Fira Code"/>
                  <a:ea typeface="Fira Code"/>
                  <a:cs typeface="Fira Code"/>
                  <a:sym typeface="Fira Code"/>
                </a:rPr>
                <a:t> </a:t>
              </a:r>
              <a:r>
                <a:rPr lang="en-US" dirty="0" err="1">
                  <a:solidFill>
                    <a:srgbClr val="FFFFFF"/>
                  </a:solidFill>
                  <a:latin typeface="Fira Code"/>
                  <a:ea typeface="Fira Code"/>
                  <a:cs typeface="Fira Code"/>
                  <a:sym typeface="Fira Code"/>
                </a:rPr>
                <a:t>Darimireddy</a:t>
              </a:r>
              <a:r>
                <a:rPr lang="en-US" dirty="0">
                  <a:solidFill>
                    <a:srgbClr val="FFFFFF"/>
                  </a:solidFill>
                  <a:latin typeface="Fira Code"/>
                  <a:ea typeface="Fira Code"/>
                  <a:cs typeface="Fira Code"/>
                  <a:sym typeface="Fira Code"/>
                </a:rPr>
                <a:t>: Deployment Specialist</a:t>
              </a:r>
            </a:p>
          </p:txBody>
        </p:sp>
      </p:grpSp>
      <p:grpSp>
        <p:nvGrpSpPr>
          <p:cNvPr id="31" name="Group 30">
            <a:extLst>
              <a:ext uri="{FF2B5EF4-FFF2-40B4-BE49-F238E27FC236}">
                <a16:creationId xmlns:a16="http://schemas.microsoft.com/office/drawing/2014/main" id="{0FA3F3D5-4A55-002A-AAD6-A4210FB2C82E}"/>
              </a:ext>
            </a:extLst>
          </p:cNvPr>
          <p:cNvGrpSpPr/>
          <p:nvPr/>
        </p:nvGrpSpPr>
        <p:grpSpPr>
          <a:xfrm>
            <a:off x="5265971" y="5822956"/>
            <a:ext cx="4366322" cy="1190299"/>
            <a:chOff x="136379" y="2763011"/>
            <a:chExt cx="4366322" cy="1190299"/>
          </a:xfrm>
        </p:grpSpPr>
        <p:grpSp>
          <p:nvGrpSpPr>
            <p:cNvPr id="32" name="Group 3">
              <a:extLst>
                <a:ext uri="{FF2B5EF4-FFF2-40B4-BE49-F238E27FC236}">
                  <a16:creationId xmlns:a16="http://schemas.microsoft.com/office/drawing/2014/main" id="{AB4997C5-0D19-899C-8231-F165A47D7C25}"/>
                </a:ext>
              </a:extLst>
            </p:cNvPr>
            <p:cNvGrpSpPr/>
            <p:nvPr/>
          </p:nvGrpSpPr>
          <p:grpSpPr>
            <a:xfrm>
              <a:off x="136379" y="2763011"/>
              <a:ext cx="4366322" cy="1190299"/>
              <a:chOff x="-10855" y="-9525"/>
              <a:chExt cx="1617156" cy="440852"/>
            </a:xfrm>
          </p:grpSpPr>
          <p:sp>
            <p:nvSpPr>
              <p:cNvPr id="34" name="Freeform 4">
                <a:extLst>
                  <a:ext uri="{FF2B5EF4-FFF2-40B4-BE49-F238E27FC236}">
                    <a16:creationId xmlns:a16="http://schemas.microsoft.com/office/drawing/2014/main" id="{917EB892-6FF6-93D2-A419-41B01890ABBA}"/>
                  </a:ext>
                </a:extLst>
              </p:cNvPr>
              <p:cNvSpPr/>
              <p:nvPr/>
            </p:nvSpPr>
            <p:spPr>
              <a:xfrm>
                <a:off x="-10855" y="4762"/>
                <a:ext cx="1606301" cy="426565"/>
              </a:xfrm>
              <a:custGeom>
                <a:avLst/>
                <a:gdLst/>
                <a:ahLst/>
                <a:cxnLst/>
                <a:rect l="l" t="t" r="r" b="b"/>
                <a:pathLst>
                  <a:path w="1606301" h="426565">
                    <a:moveTo>
                      <a:pt x="178508" y="0"/>
                    </a:moveTo>
                    <a:lnTo>
                      <a:pt x="1427793" y="0"/>
                    </a:lnTo>
                    <a:cubicBezTo>
                      <a:pt x="1475136" y="0"/>
                      <a:pt x="1520541" y="18807"/>
                      <a:pt x="1554017" y="52284"/>
                    </a:cubicBezTo>
                    <a:cubicBezTo>
                      <a:pt x="1587494" y="85761"/>
                      <a:pt x="1606301" y="131165"/>
                      <a:pt x="1606301" y="178508"/>
                    </a:cubicBezTo>
                    <a:lnTo>
                      <a:pt x="1606301" y="248056"/>
                    </a:lnTo>
                    <a:cubicBezTo>
                      <a:pt x="1606301" y="295400"/>
                      <a:pt x="1587494" y="340804"/>
                      <a:pt x="1554017" y="374281"/>
                    </a:cubicBezTo>
                    <a:cubicBezTo>
                      <a:pt x="1520541" y="407758"/>
                      <a:pt x="1475136" y="426565"/>
                      <a:pt x="1427793" y="426565"/>
                    </a:cubicBezTo>
                    <a:lnTo>
                      <a:pt x="178508" y="426565"/>
                    </a:lnTo>
                    <a:cubicBezTo>
                      <a:pt x="131165" y="426565"/>
                      <a:pt x="85761" y="407758"/>
                      <a:pt x="52284" y="374281"/>
                    </a:cubicBezTo>
                    <a:cubicBezTo>
                      <a:pt x="18807" y="340804"/>
                      <a:pt x="0" y="295400"/>
                      <a:pt x="0" y="248056"/>
                    </a:cubicBezTo>
                    <a:lnTo>
                      <a:pt x="0" y="178508"/>
                    </a:lnTo>
                    <a:cubicBezTo>
                      <a:pt x="0" y="131165"/>
                      <a:pt x="18807" y="85761"/>
                      <a:pt x="52284" y="52284"/>
                    </a:cubicBezTo>
                    <a:cubicBezTo>
                      <a:pt x="85761" y="18807"/>
                      <a:pt x="131165" y="0"/>
                      <a:pt x="178508" y="0"/>
                    </a:cubicBezTo>
                    <a:close/>
                  </a:path>
                </a:pathLst>
              </a:custGeom>
              <a:solidFill>
                <a:srgbClr val="000000"/>
              </a:solidFill>
              <a:ln w="19050" cap="rnd">
                <a:solidFill>
                  <a:srgbClr val="000000"/>
                </a:solidFill>
                <a:prstDash val="solid"/>
                <a:round/>
              </a:ln>
            </p:spPr>
            <p:txBody>
              <a:bodyPr/>
              <a:lstStyle/>
              <a:p>
                <a:endParaRPr lang="en-US" dirty="0"/>
              </a:p>
            </p:txBody>
          </p:sp>
          <p:sp>
            <p:nvSpPr>
              <p:cNvPr id="35" name="TextBox 5">
                <a:extLst>
                  <a:ext uri="{FF2B5EF4-FFF2-40B4-BE49-F238E27FC236}">
                    <a16:creationId xmlns:a16="http://schemas.microsoft.com/office/drawing/2014/main" id="{3159EFD4-A5AB-86B2-8280-B1E8A701324B}"/>
                  </a:ext>
                </a:extLst>
              </p:cNvPr>
              <p:cNvSpPr txBox="1"/>
              <p:nvPr/>
            </p:nvSpPr>
            <p:spPr>
              <a:xfrm>
                <a:off x="0" y="-9525"/>
                <a:ext cx="1606301" cy="436090"/>
              </a:xfrm>
              <a:prstGeom prst="rect">
                <a:avLst/>
              </a:prstGeom>
            </p:spPr>
            <p:txBody>
              <a:bodyPr lIns="50800" tIns="50800" rIns="50800" bIns="50800" rtlCol="0" anchor="ctr"/>
              <a:lstStyle/>
              <a:p>
                <a:pPr algn="ctr">
                  <a:lnSpc>
                    <a:spcPts val="2160"/>
                  </a:lnSpc>
                </a:pPr>
                <a:endParaRPr/>
              </a:p>
            </p:txBody>
          </p:sp>
        </p:grpSp>
        <p:sp>
          <p:nvSpPr>
            <p:cNvPr id="33" name="TextBox 6">
              <a:extLst>
                <a:ext uri="{FF2B5EF4-FFF2-40B4-BE49-F238E27FC236}">
                  <a16:creationId xmlns:a16="http://schemas.microsoft.com/office/drawing/2014/main" id="{C5F28F54-CF14-D27D-C8E2-55812AD7CA37}"/>
                </a:ext>
              </a:extLst>
            </p:cNvPr>
            <p:cNvSpPr txBox="1"/>
            <p:nvPr/>
          </p:nvSpPr>
          <p:spPr>
            <a:xfrm>
              <a:off x="403513" y="3044244"/>
              <a:ext cx="3018540" cy="561692"/>
            </a:xfrm>
            <a:prstGeom prst="rect">
              <a:avLst/>
            </a:prstGeom>
          </p:spPr>
          <p:txBody>
            <a:bodyPr lIns="0" tIns="0" rIns="0" bIns="0" rtlCol="0" anchor="t">
              <a:spAutoFit/>
            </a:bodyPr>
            <a:lstStyle/>
            <a:p>
              <a:pPr algn="ctr">
                <a:lnSpc>
                  <a:spcPts val="2160"/>
                </a:lnSpc>
              </a:pPr>
              <a:r>
                <a:rPr lang="en-US" dirty="0">
                  <a:solidFill>
                    <a:srgbClr val="FFFFFF"/>
                  </a:solidFill>
                  <a:latin typeface="Fira Code"/>
                  <a:ea typeface="Fira Code"/>
                  <a:cs typeface="Fira Code"/>
                  <a:sym typeface="Fira Code"/>
                </a:rPr>
                <a:t>Sriman Goud </a:t>
              </a:r>
              <a:r>
                <a:rPr lang="en-US" dirty="0" err="1">
                  <a:solidFill>
                    <a:srgbClr val="FFFFFF"/>
                  </a:solidFill>
                  <a:latin typeface="Fira Code"/>
                  <a:ea typeface="Fira Code"/>
                  <a:cs typeface="Fira Code"/>
                  <a:sym typeface="Fira Code"/>
                </a:rPr>
                <a:t>Emagouda</a:t>
              </a:r>
              <a:r>
                <a:rPr lang="en-US" dirty="0">
                  <a:solidFill>
                    <a:srgbClr val="FFFFFF"/>
                  </a:solidFill>
                  <a:latin typeface="Fira Code"/>
                  <a:ea typeface="Fira Code"/>
                  <a:cs typeface="Fira Code"/>
                  <a:sym typeface="Fira Code"/>
                </a:rPr>
                <a:t>: AI-Reflection Writer</a:t>
              </a:r>
            </a:p>
          </p:txBody>
        </p:sp>
      </p:grpSp>
      <p:grpSp>
        <p:nvGrpSpPr>
          <p:cNvPr id="36" name="Group 35">
            <a:extLst>
              <a:ext uri="{FF2B5EF4-FFF2-40B4-BE49-F238E27FC236}">
                <a16:creationId xmlns:a16="http://schemas.microsoft.com/office/drawing/2014/main" id="{3388BC56-79FD-12DB-38A5-7AC455D8F9A1}"/>
              </a:ext>
            </a:extLst>
          </p:cNvPr>
          <p:cNvGrpSpPr/>
          <p:nvPr/>
        </p:nvGrpSpPr>
        <p:grpSpPr>
          <a:xfrm>
            <a:off x="289612" y="5848673"/>
            <a:ext cx="4337013" cy="1177441"/>
            <a:chOff x="165688" y="2763011"/>
            <a:chExt cx="4337013" cy="1177441"/>
          </a:xfrm>
        </p:grpSpPr>
        <p:grpSp>
          <p:nvGrpSpPr>
            <p:cNvPr id="37" name="Group 3">
              <a:extLst>
                <a:ext uri="{FF2B5EF4-FFF2-40B4-BE49-F238E27FC236}">
                  <a16:creationId xmlns:a16="http://schemas.microsoft.com/office/drawing/2014/main" id="{3EF0EB4B-133C-7002-5800-CE8E3EE346F6}"/>
                </a:ext>
              </a:extLst>
            </p:cNvPr>
            <p:cNvGrpSpPr/>
            <p:nvPr/>
          </p:nvGrpSpPr>
          <p:grpSpPr>
            <a:xfrm>
              <a:off x="165688" y="2763011"/>
              <a:ext cx="4337013" cy="1177441"/>
              <a:chOff x="0" y="-9525"/>
              <a:chExt cx="1606301" cy="436090"/>
            </a:xfrm>
          </p:grpSpPr>
          <p:sp>
            <p:nvSpPr>
              <p:cNvPr id="39" name="Freeform 4">
                <a:extLst>
                  <a:ext uri="{FF2B5EF4-FFF2-40B4-BE49-F238E27FC236}">
                    <a16:creationId xmlns:a16="http://schemas.microsoft.com/office/drawing/2014/main" id="{CA32960E-822C-3B26-E37E-77767A37B426}"/>
                  </a:ext>
                </a:extLst>
              </p:cNvPr>
              <p:cNvSpPr/>
              <p:nvPr/>
            </p:nvSpPr>
            <p:spPr>
              <a:xfrm>
                <a:off x="0" y="0"/>
                <a:ext cx="1606301" cy="426565"/>
              </a:xfrm>
              <a:custGeom>
                <a:avLst/>
                <a:gdLst/>
                <a:ahLst/>
                <a:cxnLst/>
                <a:rect l="l" t="t" r="r" b="b"/>
                <a:pathLst>
                  <a:path w="1606301" h="426565">
                    <a:moveTo>
                      <a:pt x="178508" y="0"/>
                    </a:moveTo>
                    <a:lnTo>
                      <a:pt x="1427793" y="0"/>
                    </a:lnTo>
                    <a:cubicBezTo>
                      <a:pt x="1475136" y="0"/>
                      <a:pt x="1520541" y="18807"/>
                      <a:pt x="1554017" y="52284"/>
                    </a:cubicBezTo>
                    <a:cubicBezTo>
                      <a:pt x="1587494" y="85761"/>
                      <a:pt x="1606301" y="131165"/>
                      <a:pt x="1606301" y="178508"/>
                    </a:cubicBezTo>
                    <a:lnTo>
                      <a:pt x="1606301" y="248056"/>
                    </a:lnTo>
                    <a:cubicBezTo>
                      <a:pt x="1606301" y="295400"/>
                      <a:pt x="1587494" y="340804"/>
                      <a:pt x="1554017" y="374281"/>
                    </a:cubicBezTo>
                    <a:cubicBezTo>
                      <a:pt x="1520541" y="407758"/>
                      <a:pt x="1475136" y="426565"/>
                      <a:pt x="1427793" y="426565"/>
                    </a:cubicBezTo>
                    <a:lnTo>
                      <a:pt x="178508" y="426565"/>
                    </a:lnTo>
                    <a:cubicBezTo>
                      <a:pt x="131165" y="426565"/>
                      <a:pt x="85761" y="407758"/>
                      <a:pt x="52284" y="374281"/>
                    </a:cubicBezTo>
                    <a:cubicBezTo>
                      <a:pt x="18807" y="340804"/>
                      <a:pt x="0" y="295400"/>
                      <a:pt x="0" y="248056"/>
                    </a:cubicBezTo>
                    <a:lnTo>
                      <a:pt x="0" y="178508"/>
                    </a:lnTo>
                    <a:cubicBezTo>
                      <a:pt x="0" y="131165"/>
                      <a:pt x="18807" y="85761"/>
                      <a:pt x="52284" y="52284"/>
                    </a:cubicBezTo>
                    <a:cubicBezTo>
                      <a:pt x="85761" y="18807"/>
                      <a:pt x="131165" y="0"/>
                      <a:pt x="178508" y="0"/>
                    </a:cubicBezTo>
                    <a:close/>
                  </a:path>
                </a:pathLst>
              </a:custGeom>
              <a:solidFill>
                <a:srgbClr val="000000"/>
              </a:solidFill>
              <a:ln w="19050" cap="rnd">
                <a:solidFill>
                  <a:srgbClr val="000000"/>
                </a:solidFill>
                <a:prstDash val="solid"/>
                <a:round/>
              </a:ln>
            </p:spPr>
            <p:txBody>
              <a:bodyPr/>
              <a:lstStyle/>
              <a:p>
                <a:endParaRPr lang="en-US" dirty="0"/>
              </a:p>
            </p:txBody>
          </p:sp>
          <p:sp>
            <p:nvSpPr>
              <p:cNvPr id="40" name="TextBox 5">
                <a:extLst>
                  <a:ext uri="{FF2B5EF4-FFF2-40B4-BE49-F238E27FC236}">
                    <a16:creationId xmlns:a16="http://schemas.microsoft.com/office/drawing/2014/main" id="{B6885D08-B332-0243-4CEE-1B5A90D16729}"/>
                  </a:ext>
                </a:extLst>
              </p:cNvPr>
              <p:cNvSpPr txBox="1"/>
              <p:nvPr/>
            </p:nvSpPr>
            <p:spPr>
              <a:xfrm>
                <a:off x="0" y="-9525"/>
                <a:ext cx="1606301" cy="436090"/>
              </a:xfrm>
              <a:prstGeom prst="rect">
                <a:avLst/>
              </a:prstGeom>
            </p:spPr>
            <p:txBody>
              <a:bodyPr lIns="50800" tIns="50800" rIns="50800" bIns="50800" rtlCol="0" anchor="ctr"/>
              <a:lstStyle/>
              <a:p>
                <a:pPr algn="ctr">
                  <a:lnSpc>
                    <a:spcPts val="2160"/>
                  </a:lnSpc>
                </a:pPr>
                <a:endParaRPr/>
              </a:p>
            </p:txBody>
          </p:sp>
        </p:grpSp>
        <p:sp>
          <p:nvSpPr>
            <p:cNvPr id="38" name="TextBox 6">
              <a:extLst>
                <a:ext uri="{FF2B5EF4-FFF2-40B4-BE49-F238E27FC236}">
                  <a16:creationId xmlns:a16="http://schemas.microsoft.com/office/drawing/2014/main" id="{013060E6-DFB6-E5A7-A4CF-8CF878E2CD1D}"/>
                </a:ext>
              </a:extLst>
            </p:cNvPr>
            <p:cNvSpPr txBox="1"/>
            <p:nvPr/>
          </p:nvSpPr>
          <p:spPr>
            <a:xfrm>
              <a:off x="355805" y="2956071"/>
              <a:ext cx="3716503" cy="561692"/>
            </a:xfrm>
            <a:prstGeom prst="rect">
              <a:avLst/>
            </a:prstGeom>
          </p:spPr>
          <p:txBody>
            <a:bodyPr wrap="square" lIns="0" tIns="0" rIns="0" bIns="0" rtlCol="0" anchor="t">
              <a:spAutoFit/>
            </a:bodyPr>
            <a:lstStyle/>
            <a:p>
              <a:pPr algn="ctr">
                <a:lnSpc>
                  <a:spcPts val="2160"/>
                </a:lnSpc>
              </a:pPr>
              <a:r>
                <a:rPr lang="en-US" dirty="0">
                  <a:solidFill>
                    <a:srgbClr val="FFFFFF"/>
                  </a:solidFill>
                  <a:latin typeface="Fira Code"/>
                  <a:ea typeface="Fira Code"/>
                  <a:cs typeface="Fira Code"/>
                  <a:sym typeface="Fira Code"/>
                </a:rPr>
                <a:t>Shravan Kumar Goud </a:t>
              </a:r>
              <a:r>
                <a:rPr lang="en-US" dirty="0" err="1">
                  <a:solidFill>
                    <a:srgbClr val="FFFFFF"/>
                  </a:solidFill>
                  <a:latin typeface="Fira Code"/>
                  <a:ea typeface="Fira Code"/>
                  <a:cs typeface="Fira Code"/>
                  <a:sym typeface="Fira Code"/>
                </a:rPr>
                <a:t>Earukala</a:t>
              </a:r>
              <a:r>
                <a:rPr lang="en-US" dirty="0">
                  <a:solidFill>
                    <a:srgbClr val="FFFFFF"/>
                  </a:solidFill>
                  <a:latin typeface="Fira Code"/>
                  <a:ea typeface="Fira Code"/>
                  <a:cs typeface="Fira Code"/>
                  <a:sym typeface="Fira Code"/>
                </a:rPr>
                <a:t>: Manual Author</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grpSp>
        <p:nvGrpSpPr>
          <p:cNvPr id="4" name="Group 4"/>
          <p:cNvGrpSpPr/>
          <p:nvPr/>
        </p:nvGrpSpPr>
        <p:grpSpPr>
          <a:xfrm>
            <a:off x="0" y="0"/>
            <a:ext cx="9753600" cy="2630926"/>
            <a:chOff x="0" y="0"/>
            <a:chExt cx="3612444" cy="974417"/>
          </a:xfrm>
        </p:grpSpPr>
        <p:sp>
          <p:nvSpPr>
            <p:cNvPr id="5" name="Freeform 5"/>
            <p:cNvSpPr/>
            <p:nvPr/>
          </p:nvSpPr>
          <p:spPr>
            <a:xfrm>
              <a:off x="0" y="0"/>
              <a:ext cx="3612445" cy="974417"/>
            </a:xfrm>
            <a:custGeom>
              <a:avLst/>
              <a:gdLst/>
              <a:ahLst/>
              <a:cxnLst/>
              <a:rect l="l" t="t" r="r" b="b"/>
              <a:pathLst>
                <a:path w="3612445" h="974417">
                  <a:moveTo>
                    <a:pt x="0" y="0"/>
                  </a:moveTo>
                  <a:lnTo>
                    <a:pt x="3612445" y="0"/>
                  </a:lnTo>
                  <a:lnTo>
                    <a:pt x="3612445" y="974417"/>
                  </a:lnTo>
                  <a:lnTo>
                    <a:pt x="0" y="974417"/>
                  </a:lnTo>
                  <a:close/>
                </a:path>
              </a:pathLst>
            </a:custGeom>
            <a:solidFill>
              <a:srgbClr val="000000"/>
            </a:solidFill>
            <a:ln w="19050" cap="sq">
              <a:solidFill>
                <a:srgbClr val="000000"/>
              </a:solidFill>
              <a:prstDash val="solid"/>
              <a:miter/>
            </a:ln>
          </p:spPr>
          <p:txBody>
            <a:bodyPr/>
            <a:lstStyle/>
            <a:p>
              <a:endParaRPr lang="en-US"/>
            </a:p>
          </p:txBody>
        </p:sp>
        <p:sp>
          <p:nvSpPr>
            <p:cNvPr id="6" name="TextBox 6"/>
            <p:cNvSpPr txBox="1"/>
            <p:nvPr/>
          </p:nvSpPr>
          <p:spPr>
            <a:xfrm>
              <a:off x="0" y="-9525"/>
              <a:ext cx="3612444" cy="983942"/>
            </a:xfrm>
            <a:prstGeom prst="rect">
              <a:avLst/>
            </a:prstGeom>
          </p:spPr>
          <p:txBody>
            <a:bodyPr lIns="50800" tIns="50800" rIns="50800" bIns="50800" rtlCol="0" anchor="ctr"/>
            <a:lstStyle/>
            <a:p>
              <a:pPr algn="ctr">
                <a:lnSpc>
                  <a:spcPts val="2160"/>
                </a:lnSpc>
              </a:pPr>
              <a:endParaRPr/>
            </a:p>
          </p:txBody>
        </p:sp>
      </p:grpSp>
      <p:grpSp>
        <p:nvGrpSpPr>
          <p:cNvPr id="7" name="Group 7"/>
          <p:cNvGrpSpPr/>
          <p:nvPr/>
        </p:nvGrpSpPr>
        <p:grpSpPr>
          <a:xfrm>
            <a:off x="731520" y="3116701"/>
            <a:ext cx="1333469" cy="868171"/>
            <a:chOff x="0" y="0"/>
            <a:chExt cx="493877" cy="321545"/>
          </a:xfrm>
        </p:grpSpPr>
        <p:sp>
          <p:nvSpPr>
            <p:cNvPr id="8" name="Freeform 8"/>
            <p:cNvSpPr/>
            <p:nvPr/>
          </p:nvSpPr>
          <p:spPr>
            <a:xfrm>
              <a:off x="0" y="0"/>
              <a:ext cx="493877" cy="321545"/>
            </a:xfrm>
            <a:custGeom>
              <a:avLst/>
              <a:gdLst/>
              <a:ahLst/>
              <a:cxnLst/>
              <a:rect l="l" t="t" r="r" b="b"/>
              <a:pathLst>
                <a:path w="493877" h="321545">
                  <a:moveTo>
                    <a:pt x="160772" y="0"/>
                  </a:moveTo>
                  <a:lnTo>
                    <a:pt x="333105" y="0"/>
                  </a:lnTo>
                  <a:cubicBezTo>
                    <a:pt x="375744" y="0"/>
                    <a:pt x="416637" y="16938"/>
                    <a:pt x="446788" y="47089"/>
                  </a:cubicBezTo>
                  <a:cubicBezTo>
                    <a:pt x="476939" y="77240"/>
                    <a:pt x="493877" y="118133"/>
                    <a:pt x="493877" y="160772"/>
                  </a:cubicBezTo>
                  <a:lnTo>
                    <a:pt x="493877" y="160772"/>
                  </a:lnTo>
                  <a:cubicBezTo>
                    <a:pt x="493877" y="249564"/>
                    <a:pt x="421897" y="321545"/>
                    <a:pt x="333105" y="321545"/>
                  </a:cubicBezTo>
                  <a:lnTo>
                    <a:pt x="160772" y="321545"/>
                  </a:lnTo>
                  <a:cubicBezTo>
                    <a:pt x="71980" y="321545"/>
                    <a:pt x="0" y="249564"/>
                    <a:pt x="0" y="160772"/>
                  </a:cubicBezTo>
                  <a:lnTo>
                    <a:pt x="0" y="160772"/>
                  </a:lnTo>
                  <a:cubicBezTo>
                    <a:pt x="0" y="71980"/>
                    <a:pt x="71980" y="0"/>
                    <a:pt x="160772" y="0"/>
                  </a:cubicBezTo>
                  <a:close/>
                </a:path>
              </a:pathLst>
            </a:custGeom>
            <a:solidFill>
              <a:srgbClr val="000000"/>
            </a:solidFill>
            <a:ln w="19050" cap="rnd">
              <a:solidFill>
                <a:srgbClr val="000000"/>
              </a:solidFill>
              <a:prstDash val="solid"/>
              <a:round/>
            </a:ln>
          </p:spPr>
          <p:txBody>
            <a:bodyPr/>
            <a:lstStyle/>
            <a:p>
              <a:endParaRPr lang="en-US"/>
            </a:p>
          </p:txBody>
        </p:sp>
        <p:sp>
          <p:nvSpPr>
            <p:cNvPr id="9" name="TextBox 9"/>
            <p:cNvSpPr txBox="1"/>
            <p:nvPr/>
          </p:nvSpPr>
          <p:spPr>
            <a:xfrm>
              <a:off x="0" y="-9525"/>
              <a:ext cx="493877" cy="331070"/>
            </a:xfrm>
            <a:prstGeom prst="rect">
              <a:avLst/>
            </a:prstGeom>
          </p:spPr>
          <p:txBody>
            <a:bodyPr lIns="50800" tIns="50800" rIns="50800" bIns="50800" rtlCol="0" anchor="ctr"/>
            <a:lstStyle/>
            <a:p>
              <a:pPr algn="ctr">
                <a:lnSpc>
                  <a:spcPts val="2160"/>
                </a:lnSpc>
              </a:pPr>
              <a:endParaRPr/>
            </a:p>
          </p:txBody>
        </p:sp>
      </p:grpSp>
      <p:grpSp>
        <p:nvGrpSpPr>
          <p:cNvPr id="10" name="Group 10"/>
          <p:cNvGrpSpPr/>
          <p:nvPr/>
        </p:nvGrpSpPr>
        <p:grpSpPr>
          <a:xfrm>
            <a:off x="731520" y="4423021"/>
            <a:ext cx="1333469" cy="868171"/>
            <a:chOff x="0" y="0"/>
            <a:chExt cx="493877" cy="321545"/>
          </a:xfrm>
        </p:grpSpPr>
        <p:sp>
          <p:nvSpPr>
            <p:cNvPr id="11" name="Freeform 11"/>
            <p:cNvSpPr/>
            <p:nvPr/>
          </p:nvSpPr>
          <p:spPr>
            <a:xfrm>
              <a:off x="0" y="0"/>
              <a:ext cx="493877" cy="321545"/>
            </a:xfrm>
            <a:custGeom>
              <a:avLst/>
              <a:gdLst/>
              <a:ahLst/>
              <a:cxnLst/>
              <a:rect l="l" t="t" r="r" b="b"/>
              <a:pathLst>
                <a:path w="493877" h="321545">
                  <a:moveTo>
                    <a:pt x="160772" y="0"/>
                  </a:moveTo>
                  <a:lnTo>
                    <a:pt x="333105" y="0"/>
                  </a:lnTo>
                  <a:cubicBezTo>
                    <a:pt x="375744" y="0"/>
                    <a:pt x="416637" y="16938"/>
                    <a:pt x="446788" y="47089"/>
                  </a:cubicBezTo>
                  <a:cubicBezTo>
                    <a:pt x="476939" y="77240"/>
                    <a:pt x="493877" y="118133"/>
                    <a:pt x="493877" y="160772"/>
                  </a:cubicBezTo>
                  <a:lnTo>
                    <a:pt x="493877" y="160772"/>
                  </a:lnTo>
                  <a:cubicBezTo>
                    <a:pt x="493877" y="249564"/>
                    <a:pt x="421897" y="321545"/>
                    <a:pt x="333105" y="321545"/>
                  </a:cubicBezTo>
                  <a:lnTo>
                    <a:pt x="160772" y="321545"/>
                  </a:lnTo>
                  <a:cubicBezTo>
                    <a:pt x="71980" y="321545"/>
                    <a:pt x="0" y="249564"/>
                    <a:pt x="0" y="160772"/>
                  </a:cubicBezTo>
                  <a:lnTo>
                    <a:pt x="0" y="160772"/>
                  </a:lnTo>
                  <a:cubicBezTo>
                    <a:pt x="0" y="71980"/>
                    <a:pt x="71980" y="0"/>
                    <a:pt x="160772" y="0"/>
                  </a:cubicBezTo>
                  <a:close/>
                </a:path>
              </a:pathLst>
            </a:custGeom>
            <a:solidFill>
              <a:srgbClr val="000000"/>
            </a:solidFill>
            <a:ln w="19050" cap="rnd">
              <a:solidFill>
                <a:srgbClr val="000000"/>
              </a:solidFill>
              <a:prstDash val="solid"/>
              <a:round/>
            </a:ln>
          </p:spPr>
          <p:txBody>
            <a:bodyPr/>
            <a:lstStyle/>
            <a:p>
              <a:endParaRPr lang="en-US"/>
            </a:p>
          </p:txBody>
        </p:sp>
        <p:sp>
          <p:nvSpPr>
            <p:cNvPr id="12" name="TextBox 12"/>
            <p:cNvSpPr txBox="1"/>
            <p:nvPr/>
          </p:nvSpPr>
          <p:spPr>
            <a:xfrm>
              <a:off x="0" y="-9525"/>
              <a:ext cx="493877" cy="331070"/>
            </a:xfrm>
            <a:prstGeom prst="rect">
              <a:avLst/>
            </a:prstGeom>
          </p:spPr>
          <p:txBody>
            <a:bodyPr lIns="50800" tIns="50800" rIns="50800" bIns="50800" rtlCol="0" anchor="ctr"/>
            <a:lstStyle/>
            <a:p>
              <a:pPr algn="ctr">
                <a:lnSpc>
                  <a:spcPts val="2160"/>
                </a:lnSpc>
              </a:pPr>
              <a:endParaRPr/>
            </a:p>
          </p:txBody>
        </p:sp>
      </p:grpSp>
      <p:grpSp>
        <p:nvGrpSpPr>
          <p:cNvPr id="13" name="Group 13"/>
          <p:cNvGrpSpPr/>
          <p:nvPr/>
        </p:nvGrpSpPr>
        <p:grpSpPr>
          <a:xfrm>
            <a:off x="731520" y="5729342"/>
            <a:ext cx="1333469" cy="868171"/>
            <a:chOff x="0" y="0"/>
            <a:chExt cx="493877" cy="321545"/>
          </a:xfrm>
        </p:grpSpPr>
        <p:sp>
          <p:nvSpPr>
            <p:cNvPr id="14" name="Freeform 14"/>
            <p:cNvSpPr/>
            <p:nvPr/>
          </p:nvSpPr>
          <p:spPr>
            <a:xfrm>
              <a:off x="0" y="0"/>
              <a:ext cx="493877" cy="321545"/>
            </a:xfrm>
            <a:custGeom>
              <a:avLst/>
              <a:gdLst/>
              <a:ahLst/>
              <a:cxnLst/>
              <a:rect l="l" t="t" r="r" b="b"/>
              <a:pathLst>
                <a:path w="493877" h="321545">
                  <a:moveTo>
                    <a:pt x="160772" y="0"/>
                  </a:moveTo>
                  <a:lnTo>
                    <a:pt x="333105" y="0"/>
                  </a:lnTo>
                  <a:cubicBezTo>
                    <a:pt x="375744" y="0"/>
                    <a:pt x="416637" y="16938"/>
                    <a:pt x="446788" y="47089"/>
                  </a:cubicBezTo>
                  <a:cubicBezTo>
                    <a:pt x="476939" y="77240"/>
                    <a:pt x="493877" y="118133"/>
                    <a:pt x="493877" y="160772"/>
                  </a:cubicBezTo>
                  <a:lnTo>
                    <a:pt x="493877" y="160772"/>
                  </a:lnTo>
                  <a:cubicBezTo>
                    <a:pt x="493877" y="249564"/>
                    <a:pt x="421897" y="321545"/>
                    <a:pt x="333105" y="321545"/>
                  </a:cubicBezTo>
                  <a:lnTo>
                    <a:pt x="160772" y="321545"/>
                  </a:lnTo>
                  <a:cubicBezTo>
                    <a:pt x="71980" y="321545"/>
                    <a:pt x="0" y="249564"/>
                    <a:pt x="0" y="160772"/>
                  </a:cubicBezTo>
                  <a:lnTo>
                    <a:pt x="0" y="160772"/>
                  </a:lnTo>
                  <a:cubicBezTo>
                    <a:pt x="0" y="71980"/>
                    <a:pt x="71980" y="0"/>
                    <a:pt x="160772" y="0"/>
                  </a:cubicBezTo>
                  <a:close/>
                </a:path>
              </a:pathLst>
            </a:custGeom>
            <a:solidFill>
              <a:srgbClr val="000000"/>
            </a:solidFill>
            <a:ln w="19050" cap="rnd">
              <a:solidFill>
                <a:srgbClr val="000000"/>
              </a:solidFill>
              <a:prstDash val="solid"/>
              <a:round/>
            </a:ln>
          </p:spPr>
          <p:txBody>
            <a:bodyPr/>
            <a:lstStyle/>
            <a:p>
              <a:endParaRPr lang="en-US"/>
            </a:p>
          </p:txBody>
        </p:sp>
        <p:sp>
          <p:nvSpPr>
            <p:cNvPr id="15" name="TextBox 15"/>
            <p:cNvSpPr txBox="1"/>
            <p:nvPr/>
          </p:nvSpPr>
          <p:spPr>
            <a:xfrm>
              <a:off x="0" y="-9525"/>
              <a:ext cx="493877" cy="331070"/>
            </a:xfrm>
            <a:prstGeom prst="rect">
              <a:avLst/>
            </a:prstGeom>
          </p:spPr>
          <p:txBody>
            <a:bodyPr lIns="50800" tIns="50800" rIns="50800" bIns="50800" rtlCol="0" anchor="ctr"/>
            <a:lstStyle/>
            <a:p>
              <a:pPr algn="ctr">
                <a:lnSpc>
                  <a:spcPts val="2160"/>
                </a:lnSpc>
              </a:pPr>
              <a:endParaRPr/>
            </a:p>
          </p:txBody>
        </p:sp>
      </p:grpSp>
      <p:sp>
        <p:nvSpPr>
          <p:cNvPr id="16" name="Freeform 16"/>
          <p:cNvSpPr/>
          <p:nvPr/>
        </p:nvSpPr>
        <p:spPr>
          <a:xfrm rot="5400000">
            <a:off x="7072698" y="190995"/>
            <a:ext cx="586416" cy="1662520"/>
          </a:xfrm>
          <a:custGeom>
            <a:avLst/>
            <a:gdLst/>
            <a:ahLst/>
            <a:cxnLst/>
            <a:rect l="l" t="t" r="r" b="b"/>
            <a:pathLst>
              <a:path w="586416" h="1662520">
                <a:moveTo>
                  <a:pt x="0" y="0"/>
                </a:moveTo>
                <a:lnTo>
                  <a:pt x="586416" y="0"/>
                </a:lnTo>
                <a:lnTo>
                  <a:pt x="586416" y="1662520"/>
                </a:lnTo>
                <a:lnTo>
                  <a:pt x="0" y="16625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p:cNvSpPr txBox="1"/>
          <p:nvPr/>
        </p:nvSpPr>
        <p:spPr>
          <a:xfrm>
            <a:off x="731520" y="481451"/>
            <a:ext cx="5669776" cy="1804276"/>
          </a:xfrm>
          <a:prstGeom prst="rect">
            <a:avLst/>
          </a:prstGeom>
        </p:spPr>
        <p:txBody>
          <a:bodyPr lIns="0" tIns="0" rIns="0" bIns="0" rtlCol="0" anchor="t">
            <a:spAutoFit/>
          </a:bodyPr>
          <a:lstStyle/>
          <a:p>
            <a:pPr algn="l">
              <a:lnSpc>
                <a:spcPts val="6999"/>
              </a:lnSpc>
            </a:pPr>
            <a:r>
              <a:rPr lang="en-US" sz="6999" dirty="0">
                <a:solidFill>
                  <a:srgbClr val="FFFFFF"/>
                </a:solidFill>
                <a:latin typeface="ITC Avant Garde Gothic"/>
                <a:ea typeface="ITC Avant Garde Gothic"/>
                <a:cs typeface="ITC Avant Garde Gothic"/>
                <a:sym typeface="ITC Avant Garde Gothic"/>
              </a:rPr>
              <a:t>PRIMARY OBJECTIVES </a:t>
            </a:r>
          </a:p>
        </p:txBody>
      </p:sp>
      <p:sp>
        <p:nvSpPr>
          <p:cNvPr id="18" name="TextBox 18"/>
          <p:cNvSpPr txBox="1"/>
          <p:nvPr/>
        </p:nvSpPr>
        <p:spPr>
          <a:xfrm>
            <a:off x="2202707" y="3222173"/>
            <a:ext cx="3823287" cy="487313"/>
          </a:xfrm>
          <a:prstGeom prst="rect">
            <a:avLst/>
          </a:prstGeom>
        </p:spPr>
        <p:txBody>
          <a:bodyPr lIns="0" tIns="0" rIns="0" bIns="0" rtlCol="0" anchor="t">
            <a:spAutoFit/>
          </a:bodyPr>
          <a:lstStyle/>
          <a:p>
            <a:pPr algn="l">
              <a:lnSpc>
                <a:spcPts val="1919"/>
              </a:lnSpc>
            </a:pPr>
            <a:r>
              <a:rPr lang="en-US" sz="1599" dirty="0">
                <a:solidFill>
                  <a:srgbClr val="000000"/>
                </a:solidFill>
                <a:latin typeface="Fira Code"/>
                <a:ea typeface="Fira Code"/>
                <a:cs typeface="Fira Code"/>
                <a:sym typeface="Fira Code"/>
              </a:rPr>
              <a:t>Build a web platform to connect students with tutors</a:t>
            </a:r>
          </a:p>
        </p:txBody>
      </p:sp>
      <p:sp>
        <p:nvSpPr>
          <p:cNvPr id="19" name="TextBox 19"/>
          <p:cNvSpPr txBox="1"/>
          <p:nvPr/>
        </p:nvSpPr>
        <p:spPr>
          <a:xfrm>
            <a:off x="2202707" y="4618982"/>
            <a:ext cx="3823287" cy="730969"/>
          </a:xfrm>
          <a:prstGeom prst="rect">
            <a:avLst/>
          </a:prstGeom>
        </p:spPr>
        <p:txBody>
          <a:bodyPr lIns="0" tIns="0" rIns="0" bIns="0" rtlCol="0" anchor="t">
            <a:spAutoFit/>
          </a:bodyPr>
          <a:lstStyle/>
          <a:p>
            <a:pPr algn="l">
              <a:lnSpc>
                <a:spcPts val="1919"/>
              </a:lnSpc>
            </a:pPr>
            <a:r>
              <a:rPr lang="en-US" sz="1599" dirty="0">
                <a:solidFill>
                  <a:srgbClr val="000000"/>
                </a:solidFill>
                <a:latin typeface="Fira Code"/>
                <a:ea typeface="Fira Code"/>
                <a:cs typeface="Fira Code"/>
                <a:sym typeface="Fira Code"/>
              </a:rPr>
              <a:t>Enable personalized study plans, real-time chat, and progress tracking</a:t>
            </a:r>
          </a:p>
        </p:txBody>
      </p:sp>
      <p:sp>
        <p:nvSpPr>
          <p:cNvPr id="20" name="TextBox 20"/>
          <p:cNvSpPr txBox="1"/>
          <p:nvPr/>
        </p:nvSpPr>
        <p:spPr>
          <a:xfrm>
            <a:off x="2202707" y="5806240"/>
            <a:ext cx="3823287" cy="487313"/>
          </a:xfrm>
          <a:prstGeom prst="rect">
            <a:avLst/>
          </a:prstGeom>
        </p:spPr>
        <p:txBody>
          <a:bodyPr lIns="0" tIns="0" rIns="0" bIns="0" rtlCol="0" anchor="t">
            <a:spAutoFit/>
          </a:bodyPr>
          <a:lstStyle/>
          <a:p>
            <a:pPr>
              <a:lnSpc>
                <a:spcPts val="1919"/>
              </a:lnSpc>
            </a:pPr>
            <a:r>
              <a:rPr lang="en-US" sz="1599" dirty="0">
                <a:solidFill>
                  <a:srgbClr val="000000"/>
                </a:solidFill>
                <a:latin typeface="Fira Code"/>
                <a:ea typeface="Fira Code"/>
                <a:cs typeface="Fira Code"/>
                <a:sym typeface="Fira Code"/>
              </a:rPr>
              <a:t>Integrate AI for smart assistance</a:t>
            </a:r>
          </a:p>
        </p:txBody>
      </p:sp>
      <p:sp>
        <p:nvSpPr>
          <p:cNvPr id="21" name="TextBox 21"/>
          <p:cNvSpPr txBox="1"/>
          <p:nvPr/>
        </p:nvSpPr>
        <p:spPr>
          <a:xfrm>
            <a:off x="1030807" y="3312661"/>
            <a:ext cx="734895" cy="495300"/>
          </a:xfrm>
          <a:prstGeom prst="rect">
            <a:avLst/>
          </a:prstGeom>
        </p:spPr>
        <p:txBody>
          <a:bodyPr lIns="0" tIns="0" rIns="0" bIns="0" rtlCol="0" anchor="t">
            <a:spAutoFit/>
          </a:bodyPr>
          <a:lstStyle/>
          <a:p>
            <a:pPr algn="ctr">
              <a:lnSpc>
                <a:spcPts val="3300"/>
              </a:lnSpc>
            </a:pPr>
            <a:r>
              <a:rPr lang="en-US" sz="3000" spc="-150">
                <a:solidFill>
                  <a:srgbClr val="FFFFFF"/>
                </a:solidFill>
                <a:latin typeface="ITC Avant Garde Gothic"/>
                <a:ea typeface="ITC Avant Garde Gothic"/>
                <a:cs typeface="ITC Avant Garde Gothic"/>
                <a:sym typeface="ITC Avant Garde Gothic"/>
              </a:rPr>
              <a:t>01</a:t>
            </a:r>
          </a:p>
        </p:txBody>
      </p:sp>
      <p:sp>
        <p:nvSpPr>
          <p:cNvPr id="22" name="TextBox 22"/>
          <p:cNvSpPr txBox="1"/>
          <p:nvPr/>
        </p:nvSpPr>
        <p:spPr>
          <a:xfrm>
            <a:off x="1030807" y="4618982"/>
            <a:ext cx="734895" cy="495300"/>
          </a:xfrm>
          <a:prstGeom prst="rect">
            <a:avLst/>
          </a:prstGeom>
        </p:spPr>
        <p:txBody>
          <a:bodyPr lIns="0" tIns="0" rIns="0" bIns="0" rtlCol="0" anchor="t">
            <a:spAutoFit/>
          </a:bodyPr>
          <a:lstStyle/>
          <a:p>
            <a:pPr algn="ctr">
              <a:lnSpc>
                <a:spcPts val="3300"/>
              </a:lnSpc>
            </a:pPr>
            <a:r>
              <a:rPr lang="en-US" sz="3000" spc="-150">
                <a:solidFill>
                  <a:srgbClr val="FFFFFF"/>
                </a:solidFill>
                <a:latin typeface="ITC Avant Garde Gothic"/>
                <a:ea typeface="ITC Avant Garde Gothic"/>
                <a:cs typeface="ITC Avant Garde Gothic"/>
                <a:sym typeface="ITC Avant Garde Gothic"/>
              </a:rPr>
              <a:t>02</a:t>
            </a:r>
          </a:p>
        </p:txBody>
      </p:sp>
      <p:sp>
        <p:nvSpPr>
          <p:cNvPr id="23" name="TextBox 23"/>
          <p:cNvSpPr txBox="1"/>
          <p:nvPr/>
        </p:nvSpPr>
        <p:spPr>
          <a:xfrm>
            <a:off x="1030807" y="5925303"/>
            <a:ext cx="734895" cy="495300"/>
          </a:xfrm>
          <a:prstGeom prst="rect">
            <a:avLst/>
          </a:prstGeom>
        </p:spPr>
        <p:txBody>
          <a:bodyPr lIns="0" tIns="0" rIns="0" bIns="0" rtlCol="0" anchor="t">
            <a:spAutoFit/>
          </a:bodyPr>
          <a:lstStyle/>
          <a:p>
            <a:pPr algn="ctr">
              <a:lnSpc>
                <a:spcPts val="3300"/>
              </a:lnSpc>
            </a:pPr>
            <a:r>
              <a:rPr lang="en-US" sz="3000" spc="-150">
                <a:solidFill>
                  <a:srgbClr val="FFFFFF"/>
                </a:solidFill>
                <a:latin typeface="ITC Avant Garde Gothic"/>
                <a:ea typeface="ITC Avant Garde Gothic"/>
                <a:cs typeface="ITC Avant Garde Gothic"/>
                <a:sym typeface="ITC Avant Garde Gothic"/>
              </a:rPr>
              <a:t>03</a:t>
            </a:r>
          </a:p>
        </p:txBody>
      </p:sp>
      <p:pic>
        <p:nvPicPr>
          <p:cNvPr id="1028" name="Picture 4" descr="10,500+ Objective Size Stock Photos ...">
            <a:extLst>
              <a:ext uri="{FF2B5EF4-FFF2-40B4-BE49-F238E27FC236}">
                <a16:creationId xmlns:a16="http://schemas.microsoft.com/office/drawing/2014/main" id="{E8F80826-943C-D268-FEB0-71C7ADA47F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1409" y="2630927"/>
            <a:ext cx="3637201" cy="46842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TextBox 2"/>
          <p:cNvSpPr txBox="1"/>
          <p:nvPr/>
        </p:nvSpPr>
        <p:spPr>
          <a:xfrm>
            <a:off x="684263" y="376259"/>
            <a:ext cx="7268067" cy="1730987"/>
          </a:xfrm>
          <a:prstGeom prst="rect">
            <a:avLst/>
          </a:prstGeom>
        </p:spPr>
        <p:txBody>
          <a:bodyPr wrap="square" lIns="0" tIns="0" rIns="0" bIns="0" rtlCol="0" anchor="t">
            <a:spAutoFit/>
          </a:bodyPr>
          <a:lstStyle/>
          <a:p>
            <a:pPr>
              <a:lnSpc>
                <a:spcPts val="6999"/>
              </a:lnSpc>
            </a:pPr>
            <a:r>
              <a:rPr lang="en-US" sz="6999" dirty="0">
                <a:solidFill>
                  <a:srgbClr val="372A28"/>
                </a:solidFill>
                <a:latin typeface="ITC Avant Garde Gothic"/>
                <a:ea typeface="ITC Avant Garde Gothic"/>
                <a:cs typeface="ITC Avant Garde Gothic"/>
                <a:sym typeface="ITC Avant Garde Gothic"/>
              </a:rPr>
              <a:t>How Is It Helpful? </a:t>
            </a:r>
            <a:r>
              <a:rPr lang="en-US" sz="4000" dirty="0">
                <a:solidFill>
                  <a:srgbClr val="372A28"/>
                </a:solidFill>
                <a:latin typeface="ITC Avant Garde Gothic"/>
                <a:ea typeface="ITC Avant Garde Gothic"/>
                <a:cs typeface="ITC Avant Garde Gothic"/>
                <a:sym typeface="ITC Avant Garde Gothic"/>
              </a:rPr>
              <a:t>Problems Solved</a:t>
            </a:r>
            <a:endParaRPr lang="en-US" sz="6999" dirty="0">
              <a:solidFill>
                <a:srgbClr val="372A28"/>
              </a:solidFill>
              <a:latin typeface="ITC Avant Garde Gothic"/>
              <a:ea typeface="ITC Avant Garde Gothic"/>
              <a:cs typeface="ITC Avant Garde Gothic"/>
              <a:sym typeface="ITC Avant Garde Gothic"/>
            </a:endParaRPr>
          </a:p>
        </p:txBody>
      </p:sp>
      <p:grpSp>
        <p:nvGrpSpPr>
          <p:cNvPr id="3" name="Group 3"/>
          <p:cNvGrpSpPr/>
          <p:nvPr/>
        </p:nvGrpSpPr>
        <p:grpSpPr>
          <a:xfrm>
            <a:off x="684263" y="2629503"/>
            <a:ext cx="9069337" cy="4891221"/>
            <a:chOff x="0" y="0"/>
            <a:chExt cx="3359014" cy="1811563"/>
          </a:xfrm>
        </p:grpSpPr>
        <p:sp>
          <p:nvSpPr>
            <p:cNvPr id="4" name="Freeform 4"/>
            <p:cNvSpPr/>
            <p:nvPr/>
          </p:nvSpPr>
          <p:spPr>
            <a:xfrm>
              <a:off x="0" y="0"/>
              <a:ext cx="3359014" cy="1811563"/>
            </a:xfrm>
            <a:custGeom>
              <a:avLst/>
              <a:gdLst/>
              <a:ahLst/>
              <a:cxnLst/>
              <a:rect l="l" t="t" r="r" b="b"/>
              <a:pathLst>
                <a:path w="3359014" h="1811563">
                  <a:moveTo>
                    <a:pt x="0" y="0"/>
                  </a:moveTo>
                  <a:lnTo>
                    <a:pt x="3359014" y="0"/>
                  </a:lnTo>
                  <a:lnTo>
                    <a:pt x="3359014" y="1811563"/>
                  </a:lnTo>
                  <a:lnTo>
                    <a:pt x="0" y="1811563"/>
                  </a:lnTo>
                  <a:close/>
                </a:path>
              </a:pathLst>
            </a:custGeom>
            <a:solidFill>
              <a:srgbClr val="000000"/>
            </a:solidFill>
            <a:ln w="19050" cap="sq">
              <a:solidFill>
                <a:srgbClr val="000000"/>
              </a:solidFill>
              <a:prstDash val="solid"/>
              <a:miter/>
            </a:ln>
          </p:spPr>
          <p:txBody>
            <a:bodyPr/>
            <a:lstStyle/>
            <a:p>
              <a:endParaRPr lang="en-US"/>
            </a:p>
          </p:txBody>
        </p:sp>
        <p:sp>
          <p:nvSpPr>
            <p:cNvPr id="5" name="TextBox 5"/>
            <p:cNvSpPr txBox="1"/>
            <p:nvPr/>
          </p:nvSpPr>
          <p:spPr>
            <a:xfrm>
              <a:off x="0" y="-9525"/>
              <a:ext cx="3359014" cy="1821088"/>
            </a:xfrm>
            <a:prstGeom prst="rect">
              <a:avLst/>
            </a:prstGeom>
          </p:spPr>
          <p:txBody>
            <a:bodyPr lIns="50800" tIns="50800" rIns="50800" bIns="50800" rtlCol="0" anchor="ctr"/>
            <a:lstStyle/>
            <a:p>
              <a:pPr algn="ctr">
                <a:lnSpc>
                  <a:spcPts val="2160"/>
                </a:lnSpc>
              </a:pPr>
              <a:endParaRPr/>
            </a:p>
          </p:txBody>
        </p:sp>
      </p:grpSp>
      <p:sp>
        <p:nvSpPr>
          <p:cNvPr id="6" name="TextBox 6"/>
          <p:cNvSpPr txBox="1"/>
          <p:nvPr/>
        </p:nvSpPr>
        <p:spPr>
          <a:xfrm>
            <a:off x="1780278" y="4948596"/>
            <a:ext cx="5237371" cy="561692"/>
          </a:xfrm>
          <a:prstGeom prst="rect">
            <a:avLst/>
          </a:prstGeom>
        </p:spPr>
        <p:txBody>
          <a:bodyPr lIns="0" tIns="0" rIns="0" bIns="0" rtlCol="0" anchor="t">
            <a:spAutoFit/>
          </a:bodyPr>
          <a:lstStyle/>
          <a:p>
            <a:pPr>
              <a:lnSpc>
                <a:spcPts val="2160"/>
              </a:lnSpc>
            </a:pPr>
            <a:r>
              <a:rPr lang="en-US" dirty="0">
                <a:solidFill>
                  <a:srgbClr val="FFFFFF"/>
                </a:solidFill>
                <a:latin typeface="Fira Code"/>
                <a:ea typeface="Fira Code"/>
                <a:cs typeface="Fira Code"/>
                <a:sym typeface="Fira Code"/>
              </a:rPr>
              <a:t>Provides instant AI-powered help for students</a:t>
            </a:r>
            <a:endParaRPr lang="en-US" sz="1800" dirty="0">
              <a:solidFill>
                <a:srgbClr val="FFFFFF"/>
              </a:solidFill>
              <a:latin typeface="Fira Code"/>
              <a:ea typeface="Fira Code"/>
              <a:cs typeface="Fira Code"/>
              <a:sym typeface="Fira Code"/>
            </a:endParaRPr>
          </a:p>
        </p:txBody>
      </p:sp>
      <p:sp>
        <p:nvSpPr>
          <p:cNvPr id="9" name="Freeform 9"/>
          <p:cNvSpPr/>
          <p:nvPr/>
        </p:nvSpPr>
        <p:spPr>
          <a:xfrm rot="-5400000">
            <a:off x="8410615" y="1412653"/>
            <a:ext cx="874755" cy="1389185"/>
          </a:xfrm>
          <a:custGeom>
            <a:avLst/>
            <a:gdLst/>
            <a:ahLst/>
            <a:cxnLst/>
            <a:rect l="l" t="t" r="r" b="b"/>
            <a:pathLst>
              <a:path w="1531222" h="2455312">
                <a:moveTo>
                  <a:pt x="0" y="0"/>
                </a:moveTo>
                <a:lnTo>
                  <a:pt x="1531222" y="0"/>
                </a:lnTo>
                <a:lnTo>
                  <a:pt x="1531222" y="2455312"/>
                </a:lnTo>
                <a:lnTo>
                  <a:pt x="0" y="2455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p:cNvSpPr txBox="1"/>
          <p:nvPr/>
        </p:nvSpPr>
        <p:spPr>
          <a:xfrm>
            <a:off x="1754013" y="3114675"/>
            <a:ext cx="4461374" cy="561692"/>
          </a:xfrm>
          <a:prstGeom prst="rect">
            <a:avLst/>
          </a:prstGeom>
        </p:spPr>
        <p:txBody>
          <a:bodyPr lIns="0" tIns="0" rIns="0" bIns="0" rtlCol="0" anchor="t">
            <a:spAutoFit/>
          </a:bodyPr>
          <a:lstStyle/>
          <a:p>
            <a:pPr>
              <a:lnSpc>
                <a:spcPts val="2160"/>
              </a:lnSpc>
            </a:pPr>
            <a:r>
              <a:rPr lang="en-US" dirty="0">
                <a:solidFill>
                  <a:srgbClr val="FFFFFF"/>
                </a:solidFill>
                <a:latin typeface="Fira Code"/>
                <a:ea typeface="Fira Code"/>
                <a:cs typeface="Fira Code"/>
                <a:sym typeface="Fira Code"/>
              </a:rPr>
              <a:t>Simplifies finding qualified tutors</a:t>
            </a:r>
            <a:endParaRPr lang="en-US" sz="1800" dirty="0">
              <a:solidFill>
                <a:srgbClr val="FFFFFF"/>
              </a:solidFill>
              <a:latin typeface="Fira Code"/>
              <a:ea typeface="Fira Code"/>
              <a:cs typeface="Fira Code"/>
              <a:sym typeface="Fira Code"/>
            </a:endParaRPr>
          </a:p>
        </p:txBody>
      </p:sp>
      <p:sp>
        <p:nvSpPr>
          <p:cNvPr id="11" name="TextBox 11"/>
          <p:cNvSpPr txBox="1"/>
          <p:nvPr/>
        </p:nvSpPr>
        <p:spPr>
          <a:xfrm>
            <a:off x="1780278" y="4136420"/>
            <a:ext cx="4903993" cy="279564"/>
          </a:xfrm>
          <a:prstGeom prst="rect">
            <a:avLst/>
          </a:prstGeom>
        </p:spPr>
        <p:txBody>
          <a:bodyPr lIns="0" tIns="0" rIns="0" bIns="0" rtlCol="0" anchor="t">
            <a:spAutoFit/>
          </a:bodyPr>
          <a:lstStyle/>
          <a:p>
            <a:pPr>
              <a:lnSpc>
                <a:spcPts val="2160"/>
              </a:lnSpc>
            </a:pPr>
            <a:r>
              <a:rPr lang="en-US" dirty="0">
                <a:solidFill>
                  <a:srgbClr val="FFFFFF"/>
                </a:solidFill>
                <a:latin typeface="Fira Code"/>
                <a:ea typeface="Fira Code"/>
                <a:cs typeface="Fira Code"/>
                <a:sym typeface="Fira Code"/>
              </a:rPr>
              <a:t>Organizes study schedules and plans</a:t>
            </a:r>
            <a:endParaRPr lang="en-US" sz="1800" dirty="0">
              <a:solidFill>
                <a:srgbClr val="FFFFFF"/>
              </a:solidFill>
              <a:latin typeface="Fira Code"/>
              <a:ea typeface="Fira Code"/>
              <a:cs typeface="Fira Code"/>
              <a:sym typeface="Fira Code"/>
            </a:endParaRPr>
          </a:p>
        </p:txBody>
      </p:sp>
      <p:sp>
        <p:nvSpPr>
          <p:cNvPr id="12" name="TextBox 12"/>
          <p:cNvSpPr txBox="1"/>
          <p:nvPr/>
        </p:nvSpPr>
        <p:spPr>
          <a:xfrm>
            <a:off x="1006547" y="3019276"/>
            <a:ext cx="747466" cy="495300"/>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01</a:t>
            </a:r>
          </a:p>
        </p:txBody>
      </p:sp>
      <p:sp>
        <p:nvSpPr>
          <p:cNvPr id="13" name="TextBox 13"/>
          <p:cNvSpPr txBox="1"/>
          <p:nvPr/>
        </p:nvSpPr>
        <p:spPr>
          <a:xfrm>
            <a:off x="1006547" y="4048706"/>
            <a:ext cx="747466" cy="495300"/>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02</a:t>
            </a:r>
          </a:p>
        </p:txBody>
      </p:sp>
      <p:sp>
        <p:nvSpPr>
          <p:cNvPr id="14" name="TextBox 14"/>
          <p:cNvSpPr txBox="1"/>
          <p:nvPr/>
        </p:nvSpPr>
        <p:spPr>
          <a:xfrm>
            <a:off x="1006547" y="5012340"/>
            <a:ext cx="747466" cy="495300"/>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03</a:t>
            </a:r>
          </a:p>
        </p:txBody>
      </p:sp>
      <p:sp>
        <p:nvSpPr>
          <p:cNvPr id="15" name="TextBox 12">
            <a:extLst>
              <a:ext uri="{FF2B5EF4-FFF2-40B4-BE49-F238E27FC236}">
                <a16:creationId xmlns:a16="http://schemas.microsoft.com/office/drawing/2014/main" id="{A8F0000D-509C-F816-A1AB-459C01DF38F6}"/>
              </a:ext>
            </a:extLst>
          </p:cNvPr>
          <p:cNvSpPr txBox="1"/>
          <p:nvPr/>
        </p:nvSpPr>
        <p:spPr>
          <a:xfrm>
            <a:off x="1006547" y="6720589"/>
            <a:ext cx="747466" cy="423193"/>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05</a:t>
            </a:r>
          </a:p>
        </p:txBody>
      </p:sp>
      <p:sp>
        <p:nvSpPr>
          <p:cNvPr id="16" name="TextBox 12">
            <a:extLst>
              <a:ext uri="{FF2B5EF4-FFF2-40B4-BE49-F238E27FC236}">
                <a16:creationId xmlns:a16="http://schemas.microsoft.com/office/drawing/2014/main" id="{03809673-639E-1153-74B9-2BFBE72F7279}"/>
              </a:ext>
            </a:extLst>
          </p:cNvPr>
          <p:cNvSpPr txBox="1"/>
          <p:nvPr/>
        </p:nvSpPr>
        <p:spPr>
          <a:xfrm>
            <a:off x="1006547" y="5902518"/>
            <a:ext cx="747466" cy="423193"/>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04</a:t>
            </a:r>
          </a:p>
        </p:txBody>
      </p:sp>
      <p:sp>
        <p:nvSpPr>
          <p:cNvPr id="17" name="TextBox 6">
            <a:extLst>
              <a:ext uri="{FF2B5EF4-FFF2-40B4-BE49-F238E27FC236}">
                <a16:creationId xmlns:a16="http://schemas.microsoft.com/office/drawing/2014/main" id="{4F770EA0-10E5-B9C2-6C48-AC398F18C035}"/>
              </a:ext>
            </a:extLst>
          </p:cNvPr>
          <p:cNvSpPr txBox="1"/>
          <p:nvPr/>
        </p:nvSpPr>
        <p:spPr>
          <a:xfrm>
            <a:off x="1780278" y="5964594"/>
            <a:ext cx="5237371" cy="561692"/>
          </a:xfrm>
          <a:prstGeom prst="rect">
            <a:avLst/>
          </a:prstGeom>
        </p:spPr>
        <p:txBody>
          <a:bodyPr lIns="0" tIns="0" rIns="0" bIns="0" rtlCol="0" anchor="t">
            <a:spAutoFit/>
          </a:bodyPr>
          <a:lstStyle/>
          <a:p>
            <a:pPr>
              <a:lnSpc>
                <a:spcPts val="2160"/>
              </a:lnSpc>
            </a:pPr>
            <a:r>
              <a:rPr lang="en-US" dirty="0">
                <a:solidFill>
                  <a:srgbClr val="FFFFFF"/>
                </a:solidFill>
                <a:latin typeface="Fira Code"/>
                <a:ea typeface="Fira Code"/>
                <a:cs typeface="Fira Code"/>
                <a:sym typeface="Fira Code"/>
              </a:rPr>
              <a:t>Tracks learning progress and achievements</a:t>
            </a:r>
            <a:endParaRPr lang="en-US" sz="1800" dirty="0">
              <a:solidFill>
                <a:srgbClr val="FFFFFF"/>
              </a:solidFill>
              <a:latin typeface="Fira Code"/>
              <a:ea typeface="Fira Code"/>
              <a:cs typeface="Fira Code"/>
              <a:sym typeface="Fira Code"/>
            </a:endParaRPr>
          </a:p>
        </p:txBody>
      </p:sp>
      <p:sp>
        <p:nvSpPr>
          <p:cNvPr id="18" name="TextBox 6">
            <a:extLst>
              <a:ext uri="{FF2B5EF4-FFF2-40B4-BE49-F238E27FC236}">
                <a16:creationId xmlns:a16="http://schemas.microsoft.com/office/drawing/2014/main" id="{22E97A78-7B5E-253A-F31B-EC53314E683B}"/>
              </a:ext>
            </a:extLst>
          </p:cNvPr>
          <p:cNvSpPr txBox="1"/>
          <p:nvPr/>
        </p:nvSpPr>
        <p:spPr>
          <a:xfrm>
            <a:off x="1780278" y="6699746"/>
            <a:ext cx="5237371" cy="561692"/>
          </a:xfrm>
          <a:prstGeom prst="rect">
            <a:avLst/>
          </a:prstGeom>
        </p:spPr>
        <p:txBody>
          <a:bodyPr lIns="0" tIns="0" rIns="0" bIns="0" rtlCol="0" anchor="t">
            <a:spAutoFit/>
          </a:bodyPr>
          <a:lstStyle/>
          <a:p>
            <a:pPr>
              <a:lnSpc>
                <a:spcPts val="2160"/>
              </a:lnSpc>
            </a:pPr>
            <a:r>
              <a:rPr lang="en-US" dirty="0">
                <a:solidFill>
                  <a:srgbClr val="FFFFFF"/>
                </a:solidFill>
                <a:latin typeface="Fira Code"/>
                <a:ea typeface="Fira Code"/>
                <a:cs typeface="Fira Code"/>
                <a:sym typeface="Fira Code"/>
              </a:rPr>
              <a:t>Reduces manual effort for both students and tutors</a:t>
            </a:r>
            <a:endParaRPr lang="en-US" sz="1800" dirty="0">
              <a:solidFill>
                <a:srgbClr val="FFFFFF"/>
              </a:solidFill>
              <a:latin typeface="Fira Code"/>
              <a:ea typeface="Fira Code"/>
              <a:cs typeface="Fira Code"/>
              <a:sym typeface="Fira Cod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TextBox 2"/>
          <p:cNvSpPr txBox="1"/>
          <p:nvPr/>
        </p:nvSpPr>
        <p:spPr>
          <a:xfrm>
            <a:off x="297486" y="181369"/>
            <a:ext cx="9432667" cy="853311"/>
          </a:xfrm>
          <a:prstGeom prst="rect">
            <a:avLst/>
          </a:prstGeom>
        </p:spPr>
        <p:txBody>
          <a:bodyPr wrap="square" lIns="0" tIns="0" rIns="0" bIns="0" rtlCol="0" anchor="t">
            <a:spAutoFit/>
          </a:bodyPr>
          <a:lstStyle/>
          <a:p>
            <a:pPr algn="ctr">
              <a:lnSpc>
                <a:spcPts val="6999"/>
              </a:lnSpc>
            </a:pPr>
            <a:r>
              <a:rPr lang="en-US" sz="5400" dirty="0">
                <a:solidFill>
                  <a:srgbClr val="372A28"/>
                </a:solidFill>
                <a:latin typeface="ITC Avant Garde Gothic"/>
                <a:ea typeface="ITC Avant Garde Gothic"/>
                <a:cs typeface="ITC Avant Garde Gothic"/>
                <a:sym typeface="ITC Avant Garde Gothic"/>
              </a:rPr>
              <a:t>MEMBER CONTRIBUTIONS</a:t>
            </a:r>
          </a:p>
        </p:txBody>
      </p:sp>
      <p:grpSp>
        <p:nvGrpSpPr>
          <p:cNvPr id="5" name="Group 5"/>
          <p:cNvGrpSpPr/>
          <p:nvPr/>
        </p:nvGrpSpPr>
        <p:grpSpPr>
          <a:xfrm>
            <a:off x="320932" y="1034680"/>
            <a:ext cx="9135182" cy="6280520"/>
            <a:chOff x="0" y="0"/>
            <a:chExt cx="1687359" cy="2526164"/>
          </a:xfrm>
        </p:grpSpPr>
        <p:sp>
          <p:nvSpPr>
            <p:cNvPr id="6" name="Freeform 6"/>
            <p:cNvSpPr/>
            <p:nvPr/>
          </p:nvSpPr>
          <p:spPr>
            <a:xfrm>
              <a:off x="0" y="0"/>
              <a:ext cx="1687359" cy="2526164"/>
            </a:xfrm>
            <a:custGeom>
              <a:avLst/>
              <a:gdLst/>
              <a:ahLst/>
              <a:cxnLst/>
              <a:rect l="l" t="t" r="r" b="b"/>
              <a:pathLst>
                <a:path w="1687359" h="2526164">
                  <a:moveTo>
                    <a:pt x="0" y="0"/>
                  </a:moveTo>
                  <a:lnTo>
                    <a:pt x="1687359" y="0"/>
                  </a:lnTo>
                  <a:lnTo>
                    <a:pt x="1687359" y="2526164"/>
                  </a:lnTo>
                  <a:lnTo>
                    <a:pt x="0" y="2526164"/>
                  </a:lnTo>
                  <a:close/>
                </a:path>
              </a:pathLst>
            </a:custGeom>
            <a:solidFill>
              <a:srgbClr val="000000"/>
            </a:solidFill>
            <a:ln w="19050" cap="sq">
              <a:solidFill>
                <a:srgbClr val="000000"/>
              </a:solidFill>
              <a:prstDash val="solid"/>
              <a:miter/>
            </a:ln>
          </p:spPr>
          <p:txBody>
            <a:bodyPr/>
            <a:lstStyle/>
            <a:p>
              <a:endParaRPr lang="en-US"/>
            </a:p>
          </p:txBody>
        </p:sp>
        <p:sp>
          <p:nvSpPr>
            <p:cNvPr id="7" name="TextBox 7"/>
            <p:cNvSpPr txBox="1"/>
            <p:nvPr/>
          </p:nvSpPr>
          <p:spPr>
            <a:xfrm>
              <a:off x="0" y="-9525"/>
              <a:ext cx="1687359" cy="2535689"/>
            </a:xfrm>
            <a:prstGeom prst="rect">
              <a:avLst/>
            </a:prstGeom>
          </p:spPr>
          <p:txBody>
            <a:bodyPr lIns="50800" tIns="50800" rIns="50800" bIns="50800" rtlCol="0" anchor="ctr"/>
            <a:lstStyle/>
            <a:p>
              <a:pPr algn="ctr">
                <a:lnSpc>
                  <a:spcPts val="2160"/>
                </a:lnSpc>
              </a:pPr>
              <a:endParaRPr/>
            </a:p>
          </p:txBody>
        </p:sp>
      </p:grpSp>
      <p:sp>
        <p:nvSpPr>
          <p:cNvPr id="8" name="TextBox 8"/>
          <p:cNvSpPr txBox="1"/>
          <p:nvPr/>
        </p:nvSpPr>
        <p:spPr>
          <a:xfrm>
            <a:off x="1407666" y="1322186"/>
            <a:ext cx="7500159" cy="561692"/>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Presenter: Prepared and led this demo, coordinated team presentation.</a:t>
            </a:r>
          </a:p>
        </p:txBody>
      </p:sp>
      <p:sp>
        <p:nvSpPr>
          <p:cNvPr id="9" name="TextBox 9"/>
          <p:cNvSpPr txBox="1"/>
          <p:nvPr/>
        </p:nvSpPr>
        <p:spPr>
          <a:xfrm>
            <a:off x="1435928" y="2375586"/>
            <a:ext cx="7250871" cy="561692"/>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Deployment Specialist: Set up hosting (</a:t>
            </a:r>
            <a:r>
              <a:rPr lang="en-US" sz="1800" dirty="0" err="1">
                <a:solidFill>
                  <a:srgbClr val="FFFFFF"/>
                </a:solidFill>
                <a:latin typeface="Fira Code"/>
                <a:ea typeface="Fira Code"/>
                <a:cs typeface="Fira Code"/>
                <a:sym typeface="Fira Code"/>
              </a:rPr>
              <a:t>Vercel</a:t>
            </a:r>
            <a:r>
              <a:rPr lang="en-US" sz="1800" dirty="0">
                <a:solidFill>
                  <a:srgbClr val="FFFFFF"/>
                </a:solidFill>
                <a:latin typeface="Fira Code"/>
                <a:ea typeface="Fira Code"/>
                <a:cs typeface="Fira Code"/>
                <a:sym typeface="Fira Code"/>
              </a:rPr>
              <a:t>), managed deployment, ensured site availability.</a:t>
            </a:r>
          </a:p>
        </p:txBody>
      </p:sp>
      <p:sp>
        <p:nvSpPr>
          <p:cNvPr id="10" name="TextBox 10"/>
          <p:cNvSpPr txBox="1"/>
          <p:nvPr/>
        </p:nvSpPr>
        <p:spPr>
          <a:xfrm>
            <a:off x="1470983" y="5853232"/>
            <a:ext cx="7250871" cy="561692"/>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AI-Reflection Writer: Integrated Gemini AI, designed prompts, documented AI decisions and challenges</a:t>
            </a:r>
          </a:p>
        </p:txBody>
      </p:sp>
      <p:sp>
        <p:nvSpPr>
          <p:cNvPr id="11" name="TextBox 11"/>
          <p:cNvSpPr txBox="1"/>
          <p:nvPr/>
        </p:nvSpPr>
        <p:spPr>
          <a:xfrm>
            <a:off x="845774" y="1293611"/>
            <a:ext cx="597555" cy="495300"/>
          </a:xfrm>
          <a:prstGeom prst="rect">
            <a:avLst/>
          </a:prstGeom>
        </p:spPr>
        <p:txBody>
          <a:bodyPr lIns="0" tIns="0" rIns="0" bIns="0" rtlCol="0" anchor="t">
            <a:spAutoFit/>
          </a:bodyPr>
          <a:lstStyle/>
          <a:p>
            <a:pPr algn="l">
              <a:lnSpc>
                <a:spcPts val="3300"/>
              </a:lnSpc>
            </a:pPr>
            <a:r>
              <a:rPr lang="en-US" sz="3000" spc="-150">
                <a:solidFill>
                  <a:srgbClr val="FFFFFF"/>
                </a:solidFill>
                <a:latin typeface="ITC Avant Garde Gothic"/>
                <a:ea typeface="ITC Avant Garde Gothic"/>
                <a:cs typeface="ITC Avant Garde Gothic"/>
                <a:sym typeface="ITC Avant Garde Gothic"/>
              </a:rPr>
              <a:t>01</a:t>
            </a:r>
          </a:p>
        </p:txBody>
      </p:sp>
      <p:sp>
        <p:nvSpPr>
          <p:cNvPr id="12" name="TextBox 12"/>
          <p:cNvSpPr txBox="1"/>
          <p:nvPr/>
        </p:nvSpPr>
        <p:spPr>
          <a:xfrm>
            <a:off x="816466" y="2370891"/>
            <a:ext cx="561892" cy="495300"/>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02</a:t>
            </a:r>
          </a:p>
        </p:txBody>
      </p:sp>
      <p:sp>
        <p:nvSpPr>
          <p:cNvPr id="13" name="TextBox 13"/>
          <p:cNvSpPr txBox="1"/>
          <p:nvPr/>
        </p:nvSpPr>
        <p:spPr>
          <a:xfrm>
            <a:off x="770818" y="3603484"/>
            <a:ext cx="747466" cy="495300"/>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03</a:t>
            </a:r>
          </a:p>
        </p:txBody>
      </p:sp>
      <p:sp>
        <p:nvSpPr>
          <p:cNvPr id="14" name="TextBox 13">
            <a:extLst>
              <a:ext uri="{FF2B5EF4-FFF2-40B4-BE49-F238E27FC236}">
                <a16:creationId xmlns:a16="http://schemas.microsoft.com/office/drawing/2014/main" id="{9519FB9B-A1E0-952B-E8E5-D52DFF3768F1}"/>
              </a:ext>
            </a:extLst>
          </p:cNvPr>
          <p:cNvSpPr txBox="1"/>
          <p:nvPr/>
        </p:nvSpPr>
        <p:spPr>
          <a:xfrm>
            <a:off x="770818" y="4667720"/>
            <a:ext cx="747466" cy="423193"/>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04</a:t>
            </a:r>
          </a:p>
        </p:txBody>
      </p:sp>
      <p:sp>
        <p:nvSpPr>
          <p:cNvPr id="16" name="TextBox 13">
            <a:extLst>
              <a:ext uri="{FF2B5EF4-FFF2-40B4-BE49-F238E27FC236}">
                <a16:creationId xmlns:a16="http://schemas.microsoft.com/office/drawing/2014/main" id="{31579FD3-3299-7CD6-4D88-6D81478AB21E}"/>
              </a:ext>
            </a:extLst>
          </p:cNvPr>
          <p:cNvSpPr txBox="1"/>
          <p:nvPr/>
        </p:nvSpPr>
        <p:spPr>
          <a:xfrm>
            <a:off x="817363" y="5808901"/>
            <a:ext cx="747466" cy="423193"/>
          </a:xfrm>
          <a:prstGeom prst="rect">
            <a:avLst/>
          </a:prstGeom>
        </p:spPr>
        <p:txBody>
          <a:bodyPr lIns="0" tIns="0" rIns="0" bIns="0" rtlCol="0" anchor="t">
            <a:spAutoFit/>
          </a:bodyPr>
          <a:lstStyle/>
          <a:p>
            <a:pPr algn="l">
              <a:lnSpc>
                <a:spcPts val="3300"/>
              </a:lnSpc>
            </a:pPr>
            <a:r>
              <a:rPr lang="en-US" sz="3000" spc="-150" dirty="0">
                <a:solidFill>
                  <a:srgbClr val="FFFFFF"/>
                </a:solidFill>
                <a:latin typeface="ITC Avant Garde Gothic"/>
                <a:ea typeface="ITC Avant Garde Gothic"/>
                <a:cs typeface="ITC Avant Garde Gothic"/>
                <a:sym typeface="ITC Avant Garde Gothic"/>
              </a:rPr>
              <a:t>05</a:t>
            </a:r>
          </a:p>
        </p:txBody>
      </p:sp>
      <p:sp>
        <p:nvSpPr>
          <p:cNvPr id="17" name="TextBox 10">
            <a:extLst>
              <a:ext uri="{FF2B5EF4-FFF2-40B4-BE49-F238E27FC236}">
                <a16:creationId xmlns:a16="http://schemas.microsoft.com/office/drawing/2014/main" id="{D176FC76-08A3-2D50-3CFC-4C4605819DC7}"/>
              </a:ext>
            </a:extLst>
          </p:cNvPr>
          <p:cNvSpPr txBox="1"/>
          <p:nvPr/>
        </p:nvSpPr>
        <p:spPr>
          <a:xfrm>
            <a:off x="1470983" y="4721216"/>
            <a:ext cx="7250871" cy="561692"/>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Manual Author: Wrote README, user guide, onboarding instructions, documented features</a:t>
            </a:r>
          </a:p>
        </p:txBody>
      </p:sp>
      <p:sp>
        <p:nvSpPr>
          <p:cNvPr id="18" name="TextBox 10">
            <a:extLst>
              <a:ext uri="{FF2B5EF4-FFF2-40B4-BE49-F238E27FC236}">
                <a16:creationId xmlns:a16="http://schemas.microsoft.com/office/drawing/2014/main" id="{288006E1-1D49-93EC-D335-3BAB0E0735D5}"/>
              </a:ext>
            </a:extLst>
          </p:cNvPr>
          <p:cNvSpPr txBox="1"/>
          <p:nvPr/>
        </p:nvSpPr>
        <p:spPr>
          <a:xfrm>
            <a:off x="1443329" y="3645793"/>
            <a:ext cx="7250871" cy="843821"/>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Repo Manager: Created and managed the GitHub repository, maintained branches, coordinated code updates</a:t>
            </a:r>
          </a:p>
        </p:txBody>
      </p:sp>
      <p:sp>
        <p:nvSpPr>
          <p:cNvPr id="19" name="TextBox 10">
            <a:extLst>
              <a:ext uri="{FF2B5EF4-FFF2-40B4-BE49-F238E27FC236}">
                <a16:creationId xmlns:a16="http://schemas.microsoft.com/office/drawing/2014/main" id="{4D467532-19C7-3F0F-2378-B27AE9EB6A5F}"/>
              </a:ext>
            </a:extLst>
          </p:cNvPr>
          <p:cNvSpPr txBox="1"/>
          <p:nvPr/>
        </p:nvSpPr>
        <p:spPr>
          <a:xfrm>
            <a:off x="1066801" y="6854267"/>
            <a:ext cx="7655053" cy="279564"/>
          </a:xfrm>
          <a:prstGeom prst="rect">
            <a:avLst/>
          </a:prstGeom>
        </p:spPr>
        <p:txBody>
          <a:bodyPr wrap="square" lIns="0" tIns="0" rIns="0" bIns="0" rtlCol="0" anchor="t">
            <a:spAutoFit/>
          </a:bodyPr>
          <a:lstStyle/>
          <a:p>
            <a:pPr algn="l">
              <a:lnSpc>
                <a:spcPts val="2160"/>
              </a:lnSpc>
            </a:pPr>
            <a:r>
              <a:rPr lang="en-US" sz="1800" dirty="0">
                <a:solidFill>
                  <a:srgbClr val="FFFFFF"/>
                </a:solidFill>
                <a:latin typeface="Fira Code"/>
                <a:ea typeface="Fira Code"/>
                <a:cs typeface="Fira Code"/>
                <a:sym typeface="Fira Code"/>
              </a:rPr>
              <a:t>The development of this project was done collaboratively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sp>
        <p:nvSpPr>
          <p:cNvPr id="2" name="TextBox 2"/>
          <p:cNvSpPr txBox="1"/>
          <p:nvPr/>
        </p:nvSpPr>
        <p:spPr>
          <a:xfrm>
            <a:off x="301796" y="762000"/>
            <a:ext cx="9150008" cy="906595"/>
          </a:xfrm>
          <a:prstGeom prst="rect">
            <a:avLst/>
          </a:prstGeom>
        </p:spPr>
        <p:txBody>
          <a:bodyPr wrap="square" lIns="0" tIns="0" rIns="0" bIns="0" rtlCol="0" anchor="t">
            <a:spAutoFit/>
          </a:bodyPr>
          <a:lstStyle/>
          <a:p>
            <a:pPr algn="ctr">
              <a:lnSpc>
                <a:spcPts val="6999"/>
              </a:lnSpc>
            </a:pPr>
            <a:r>
              <a:rPr lang="en-US" sz="6999" dirty="0">
                <a:solidFill>
                  <a:srgbClr val="372A28"/>
                </a:solidFill>
                <a:latin typeface="ITC Avant Garde Gothic"/>
                <a:ea typeface="ITC Avant Garde Gothic"/>
                <a:cs typeface="ITC Avant Garde Gothic"/>
                <a:sym typeface="ITC Avant Garde Gothic"/>
              </a:rPr>
              <a:t>CHALLENGES</a:t>
            </a:r>
          </a:p>
        </p:txBody>
      </p:sp>
      <p:sp>
        <p:nvSpPr>
          <p:cNvPr id="3" name="TextBox 3"/>
          <p:cNvSpPr txBox="1"/>
          <p:nvPr/>
        </p:nvSpPr>
        <p:spPr>
          <a:xfrm>
            <a:off x="4114800" y="2296807"/>
            <a:ext cx="5769914" cy="4576766"/>
          </a:xfrm>
          <a:prstGeom prst="rect">
            <a:avLst/>
          </a:prstGeom>
        </p:spPr>
        <p:txBody>
          <a:bodyPr wrap="square" lIns="0" tIns="0" rIns="0" bIns="0" rtlCol="0" anchor="t">
            <a:spAutoFit/>
          </a:bodyPr>
          <a:lstStyle/>
          <a:p>
            <a:pPr marL="285750" indent="-285750">
              <a:lnSpc>
                <a:spcPct val="150000"/>
              </a:lnSpc>
              <a:buFont typeface="Arial" panose="020B0604020202020204" pitchFamily="34" charset="0"/>
              <a:buChar char="•"/>
            </a:pPr>
            <a:r>
              <a:rPr lang="en-US" sz="2000" dirty="0">
                <a:solidFill>
                  <a:srgbClr val="000000"/>
                </a:solidFill>
                <a:latin typeface="Fira Code"/>
                <a:ea typeface="Fira Code"/>
                <a:cs typeface="Fira Code"/>
                <a:sym typeface="Fira Code"/>
              </a:rPr>
              <a:t>Integrating Gemini AI and handling API changes</a:t>
            </a:r>
          </a:p>
          <a:p>
            <a:pPr marL="285750" indent="-285750">
              <a:lnSpc>
                <a:spcPct val="150000"/>
              </a:lnSpc>
              <a:buFont typeface="Arial" panose="020B0604020202020204" pitchFamily="34" charset="0"/>
              <a:buChar char="•"/>
            </a:pPr>
            <a:r>
              <a:rPr lang="en-US" sz="2000" dirty="0">
                <a:solidFill>
                  <a:srgbClr val="000000"/>
                </a:solidFill>
                <a:latin typeface="Fira Code"/>
                <a:ea typeface="Fira Code"/>
                <a:cs typeface="Fira Code"/>
                <a:sym typeface="Fira Code"/>
              </a:rPr>
              <a:t>Managing user authentication and roles</a:t>
            </a:r>
          </a:p>
          <a:p>
            <a:pPr marL="285750" indent="-285750">
              <a:lnSpc>
                <a:spcPct val="150000"/>
              </a:lnSpc>
              <a:buFont typeface="Arial" panose="020B0604020202020204" pitchFamily="34" charset="0"/>
              <a:buChar char="•"/>
            </a:pPr>
            <a:r>
              <a:rPr lang="en-US" sz="2000" dirty="0">
                <a:solidFill>
                  <a:srgbClr val="000000"/>
                </a:solidFill>
                <a:latin typeface="Fira Code"/>
                <a:ea typeface="Fira Code"/>
                <a:cs typeface="Fira Code"/>
                <a:sym typeface="Fira Code"/>
              </a:rPr>
              <a:t>Ensuring real-time flow and database updates</a:t>
            </a:r>
          </a:p>
          <a:p>
            <a:pPr marL="285750" indent="-285750">
              <a:lnSpc>
                <a:spcPct val="150000"/>
              </a:lnSpc>
              <a:buFont typeface="Arial" panose="020B0604020202020204" pitchFamily="34" charset="0"/>
              <a:buChar char="•"/>
            </a:pPr>
            <a:r>
              <a:rPr lang="en-US" sz="2000" dirty="0">
                <a:solidFill>
                  <a:srgbClr val="000000"/>
                </a:solidFill>
                <a:latin typeface="Fira Code"/>
                <a:ea typeface="Fira Code"/>
                <a:cs typeface="Fira Code"/>
                <a:sym typeface="Fira Code"/>
              </a:rPr>
              <a:t>Coordinating team work and merging code</a:t>
            </a:r>
          </a:p>
          <a:p>
            <a:pPr marL="285750" indent="-285750">
              <a:lnSpc>
                <a:spcPct val="150000"/>
              </a:lnSpc>
              <a:buFont typeface="Arial" panose="020B0604020202020204" pitchFamily="34" charset="0"/>
              <a:buChar char="•"/>
            </a:pPr>
            <a:r>
              <a:rPr lang="en-US" sz="2000" dirty="0">
                <a:solidFill>
                  <a:srgbClr val="000000"/>
                </a:solidFill>
                <a:latin typeface="Fira Code"/>
                <a:ea typeface="Fira Code"/>
                <a:cs typeface="Fira Code"/>
                <a:sym typeface="Fira Code"/>
              </a:rPr>
              <a:t>Handling deployment issues and environment variables</a:t>
            </a:r>
          </a:p>
        </p:txBody>
      </p:sp>
      <p:pic>
        <p:nvPicPr>
          <p:cNvPr id="3074" name="Picture 2" descr="Challenge Diagram Stock Illustrations ...">
            <a:extLst>
              <a:ext uri="{FF2B5EF4-FFF2-40B4-BE49-F238E27FC236}">
                <a16:creationId xmlns:a16="http://schemas.microsoft.com/office/drawing/2014/main" id="{425CCE31-1ACE-BCB9-1625-445853C05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22" y="2844433"/>
            <a:ext cx="3950042" cy="2260967"/>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pic>
        <p:nvPicPr>
          <p:cNvPr id="4100" name="Picture 4" descr="Arrows with text next steps red arrow ...">
            <a:extLst>
              <a:ext uri="{FF2B5EF4-FFF2-40B4-BE49-F238E27FC236}">
                <a16:creationId xmlns:a16="http://schemas.microsoft.com/office/drawing/2014/main" id="{E2EC8361-DFF0-C3BA-9B29-F61D78F6B2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631"/>
          <a:stretch>
            <a:fillRect/>
          </a:stretch>
        </p:blipFill>
        <p:spPr bwMode="auto">
          <a:xfrm>
            <a:off x="1496901" y="111369"/>
            <a:ext cx="6508094" cy="349713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2" name="TextBox 2"/>
          <p:cNvSpPr txBox="1"/>
          <p:nvPr/>
        </p:nvSpPr>
        <p:spPr>
          <a:xfrm>
            <a:off x="1298060" y="3242279"/>
            <a:ext cx="7157480" cy="1063625"/>
          </a:xfrm>
          <a:prstGeom prst="rect">
            <a:avLst/>
          </a:prstGeom>
        </p:spPr>
        <p:txBody>
          <a:bodyPr lIns="0" tIns="0" rIns="0" bIns="0" rtlCol="0" anchor="t">
            <a:spAutoFit/>
          </a:bodyPr>
          <a:lstStyle/>
          <a:p>
            <a:pPr algn="ctr">
              <a:lnSpc>
                <a:spcPts val="6999"/>
              </a:lnSpc>
            </a:pPr>
            <a:r>
              <a:rPr lang="en-US" sz="6999">
                <a:solidFill>
                  <a:srgbClr val="372A28"/>
                </a:solidFill>
                <a:latin typeface="ITC Avant Garde Gothic"/>
                <a:ea typeface="ITC Avant Garde Gothic"/>
                <a:cs typeface="ITC Avant Garde Gothic"/>
                <a:sym typeface="ITC Avant Garde Gothic"/>
              </a:rPr>
              <a:t>NEXT STEPS</a:t>
            </a:r>
          </a:p>
        </p:txBody>
      </p:sp>
      <p:sp>
        <p:nvSpPr>
          <p:cNvPr id="3" name="TextBox 3"/>
          <p:cNvSpPr txBox="1"/>
          <p:nvPr/>
        </p:nvSpPr>
        <p:spPr>
          <a:xfrm>
            <a:off x="1600200" y="4572001"/>
            <a:ext cx="7157480" cy="2041585"/>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ü"/>
            </a:pPr>
            <a:r>
              <a:rPr lang="en-US" sz="1800" dirty="0">
                <a:solidFill>
                  <a:srgbClr val="000000"/>
                </a:solidFill>
                <a:latin typeface="Fira Code"/>
                <a:ea typeface="Fira Code"/>
                <a:cs typeface="Fira Code"/>
                <a:sym typeface="Fira Code"/>
              </a:rPr>
              <a:t>Add more tutor subjects and student features</a:t>
            </a:r>
          </a:p>
          <a:p>
            <a:pPr marL="285750" indent="-285750">
              <a:lnSpc>
                <a:spcPct val="150000"/>
              </a:lnSpc>
              <a:buFont typeface="Wingdings" panose="05000000000000000000" pitchFamily="2" charset="2"/>
              <a:buChar char="ü"/>
            </a:pPr>
            <a:r>
              <a:rPr lang="en-US" sz="1800" dirty="0">
                <a:solidFill>
                  <a:srgbClr val="000000"/>
                </a:solidFill>
                <a:latin typeface="Fira Code"/>
                <a:ea typeface="Fira Code"/>
                <a:cs typeface="Fira Code"/>
                <a:sym typeface="Fira Code"/>
              </a:rPr>
              <a:t>Improve AI assistant with more advanced prompts</a:t>
            </a:r>
          </a:p>
          <a:p>
            <a:pPr marL="285750" indent="-285750">
              <a:lnSpc>
                <a:spcPct val="150000"/>
              </a:lnSpc>
              <a:buFont typeface="Wingdings" panose="05000000000000000000" pitchFamily="2" charset="2"/>
              <a:buChar char="ü"/>
            </a:pPr>
            <a:r>
              <a:rPr lang="en-US" sz="1800" dirty="0">
                <a:solidFill>
                  <a:srgbClr val="000000"/>
                </a:solidFill>
                <a:latin typeface="Fira Code"/>
                <a:ea typeface="Fira Code"/>
                <a:cs typeface="Fira Code"/>
                <a:sym typeface="Fira Code"/>
              </a:rPr>
              <a:t>Enhance UI/UX for better accessibility</a:t>
            </a:r>
          </a:p>
          <a:p>
            <a:pPr marL="285750" indent="-285750">
              <a:lnSpc>
                <a:spcPct val="150000"/>
              </a:lnSpc>
              <a:buFont typeface="Wingdings" panose="05000000000000000000" pitchFamily="2" charset="2"/>
              <a:buChar char="ü"/>
            </a:pPr>
            <a:r>
              <a:rPr lang="en-US" sz="1800" dirty="0">
                <a:solidFill>
                  <a:srgbClr val="000000"/>
                </a:solidFill>
                <a:latin typeface="Fira Code"/>
                <a:ea typeface="Fira Code"/>
                <a:cs typeface="Fira Code"/>
                <a:sym typeface="Fira Code"/>
              </a:rPr>
              <a:t>Expand deployment to additional cloud platforms</a:t>
            </a:r>
          </a:p>
          <a:p>
            <a:pPr marL="285750" indent="-285750">
              <a:lnSpc>
                <a:spcPct val="150000"/>
              </a:lnSpc>
              <a:buFont typeface="Wingdings" panose="05000000000000000000" pitchFamily="2" charset="2"/>
              <a:buChar char="ü"/>
            </a:pPr>
            <a:r>
              <a:rPr lang="en-US" sz="1800" dirty="0">
                <a:solidFill>
                  <a:srgbClr val="000000"/>
                </a:solidFill>
                <a:latin typeface="Fira Code"/>
                <a:ea typeface="Fira Code"/>
                <a:cs typeface="Fira Code"/>
                <a:sym typeface="Fira Code"/>
              </a:rPr>
              <a:t>Gather user feedback and iterate on features</a:t>
            </a:r>
          </a:p>
        </p:txBody>
      </p:sp>
      <p:sp>
        <p:nvSpPr>
          <p:cNvPr id="10" name="Freeform 10"/>
          <p:cNvSpPr/>
          <p:nvPr/>
        </p:nvSpPr>
        <p:spPr>
          <a:xfrm rot="-5400000">
            <a:off x="7813520" y="2933034"/>
            <a:ext cx="886358" cy="1421274"/>
          </a:xfrm>
          <a:custGeom>
            <a:avLst/>
            <a:gdLst/>
            <a:ahLst/>
            <a:cxnLst/>
            <a:rect l="l" t="t" r="r" b="b"/>
            <a:pathLst>
              <a:path w="886358" h="1421274">
                <a:moveTo>
                  <a:pt x="0" y="0"/>
                </a:moveTo>
                <a:lnTo>
                  <a:pt x="886358" y="0"/>
                </a:lnTo>
                <a:lnTo>
                  <a:pt x="886358" y="1421274"/>
                </a:lnTo>
                <a:lnTo>
                  <a:pt x="0" y="14212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rot="-5400000">
            <a:off x="1053722" y="2960892"/>
            <a:ext cx="886358" cy="1421274"/>
          </a:xfrm>
          <a:custGeom>
            <a:avLst/>
            <a:gdLst/>
            <a:ahLst/>
            <a:cxnLst/>
            <a:rect l="l" t="t" r="r" b="b"/>
            <a:pathLst>
              <a:path w="886358" h="1421274">
                <a:moveTo>
                  <a:pt x="0" y="0"/>
                </a:moveTo>
                <a:lnTo>
                  <a:pt x="886358" y="0"/>
                </a:lnTo>
                <a:lnTo>
                  <a:pt x="886358" y="1421274"/>
                </a:lnTo>
                <a:lnTo>
                  <a:pt x="0" y="14212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4EA"/>
        </a:solidFill>
        <a:effectLst/>
      </p:bgPr>
    </p:bg>
    <p:spTree>
      <p:nvGrpSpPr>
        <p:cNvPr id="1" name=""/>
        <p:cNvGrpSpPr/>
        <p:nvPr/>
      </p:nvGrpSpPr>
      <p:grpSpPr>
        <a:xfrm>
          <a:off x="0" y="0"/>
          <a:ext cx="0" cy="0"/>
          <a:chOff x="0" y="0"/>
          <a:chExt cx="0" cy="0"/>
        </a:xfrm>
      </p:grpSpPr>
      <p:grpSp>
        <p:nvGrpSpPr>
          <p:cNvPr id="4" name="Group 4"/>
          <p:cNvGrpSpPr/>
          <p:nvPr/>
        </p:nvGrpSpPr>
        <p:grpSpPr>
          <a:xfrm>
            <a:off x="-47257" y="-204646"/>
            <a:ext cx="10200205" cy="874786"/>
            <a:chOff x="0" y="0"/>
            <a:chExt cx="3777854" cy="323995"/>
          </a:xfrm>
        </p:grpSpPr>
        <p:sp>
          <p:nvSpPr>
            <p:cNvPr id="5" name="Freeform 5"/>
            <p:cNvSpPr/>
            <p:nvPr/>
          </p:nvSpPr>
          <p:spPr>
            <a:xfrm>
              <a:off x="0" y="0"/>
              <a:ext cx="3777854" cy="323995"/>
            </a:xfrm>
            <a:custGeom>
              <a:avLst/>
              <a:gdLst/>
              <a:ahLst/>
              <a:cxnLst/>
              <a:rect l="l" t="t" r="r" b="b"/>
              <a:pathLst>
                <a:path w="3777854" h="323995">
                  <a:moveTo>
                    <a:pt x="0" y="0"/>
                  </a:moveTo>
                  <a:lnTo>
                    <a:pt x="3777854" y="0"/>
                  </a:lnTo>
                  <a:lnTo>
                    <a:pt x="3777854" y="323995"/>
                  </a:lnTo>
                  <a:lnTo>
                    <a:pt x="0" y="323995"/>
                  </a:lnTo>
                  <a:close/>
                </a:path>
              </a:pathLst>
            </a:custGeom>
            <a:solidFill>
              <a:srgbClr val="000000"/>
            </a:solidFill>
            <a:ln w="19050" cap="sq">
              <a:solidFill>
                <a:srgbClr val="000000"/>
              </a:solidFill>
              <a:prstDash val="solid"/>
              <a:miter/>
            </a:ln>
          </p:spPr>
          <p:txBody>
            <a:bodyPr/>
            <a:lstStyle/>
            <a:p>
              <a:endParaRPr lang="en-US"/>
            </a:p>
          </p:txBody>
        </p:sp>
        <p:sp>
          <p:nvSpPr>
            <p:cNvPr id="6" name="TextBox 6"/>
            <p:cNvSpPr txBox="1"/>
            <p:nvPr/>
          </p:nvSpPr>
          <p:spPr>
            <a:xfrm>
              <a:off x="0" y="-9525"/>
              <a:ext cx="3777854" cy="333520"/>
            </a:xfrm>
            <a:prstGeom prst="rect">
              <a:avLst/>
            </a:prstGeom>
          </p:spPr>
          <p:txBody>
            <a:bodyPr lIns="50800" tIns="50800" rIns="50800" bIns="50800" rtlCol="0" anchor="ctr"/>
            <a:lstStyle/>
            <a:p>
              <a:pPr algn="ctr">
                <a:lnSpc>
                  <a:spcPts val="2160"/>
                </a:lnSpc>
              </a:pPr>
              <a:endParaRPr/>
            </a:p>
          </p:txBody>
        </p:sp>
      </p:grpSp>
      <p:sp>
        <p:nvSpPr>
          <p:cNvPr id="7" name="TextBox 7"/>
          <p:cNvSpPr txBox="1"/>
          <p:nvPr/>
        </p:nvSpPr>
        <p:spPr>
          <a:xfrm>
            <a:off x="1123784" y="4179238"/>
            <a:ext cx="7772400" cy="833305"/>
          </a:xfrm>
          <a:prstGeom prst="rect">
            <a:avLst/>
          </a:prstGeom>
        </p:spPr>
        <p:txBody>
          <a:bodyPr wrap="square" lIns="0" tIns="0" rIns="0" bIns="0" rtlCol="0" anchor="t">
            <a:spAutoFit/>
          </a:bodyPr>
          <a:lstStyle/>
          <a:p>
            <a:pPr algn="ctr">
              <a:lnSpc>
                <a:spcPts val="6999"/>
              </a:lnSpc>
            </a:pPr>
            <a:r>
              <a:rPr lang="en-US" sz="4800" dirty="0">
                <a:solidFill>
                  <a:srgbClr val="372A28"/>
                </a:solidFill>
                <a:latin typeface="ITC Avant Garde Gothic"/>
                <a:ea typeface="ITC Avant Garde Gothic"/>
                <a:cs typeface="ITC Avant Garde Gothic"/>
                <a:sym typeface="ITC Avant Garde Gothic"/>
              </a:rPr>
              <a:t>- Ready for questions</a:t>
            </a:r>
          </a:p>
        </p:txBody>
      </p:sp>
      <p:sp>
        <p:nvSpPr>
          <p:cNvPr id="8" name="Freeform 8"/>
          <p:cNvSpPr/>
          <p:nvPr/>
        </p:nvSpPr>
        <p:spPr>
          <a:xfrm rot="-5400000">
            <a:off x="8159682" y="1401252"/>
            <a:ext cx="1531222" cy="2455312"/>
          </a:xfrm>
          <a:custGeom>
            <a:avLst/>
            <a:gdLst/>
            <a:ahLst/>
            <a:cxnLst/>
            <a:rect l="l" t="t" r="r" b="b"/>
            <a:pathLst>
              <a:path w="1531222" h="2455312">
                <a:moveTo>
                  <a:pt x="0" y="0"/>
                </a:moveTo>
                <a:lnTo>
                  <a:pt x="1531222" y="0"/>
                </a:lnTo>
                <a:lnTo>
                  <a:pt x="1531222" y="2455312"/>
                </a:lnTo>
                <a:lnTo>
                  <a:pt x="0" y="2455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5400000">
            <a:off x="63672" y="1293318"/>
            <a:ext cx="1531222" cy="2455312"/>
          </a:xfrm>
          <a:custGeom>
            <a:avLst/>
            <a:gdLst/>
            <a:ahLst/>
            <a:cxnLst/>
            <a:rect l="l" t="t" r="r" b="b"/>
            <a:pathLst>
              <a:path w="1531222" h="2455312">
                <a:moveTo>
                  <a:pt x="0" y="0"/>
                </a:moveTo>
                <a:lnTo>
                  <a:pt x="1531221" y="0"/>
                </a:lnTo>
                <a:lnTo>
                  <a:pt x="1531221" y="2455311"/>
                </a:lnTo>
                <a:lnTo>
                  <a:pt x="0" y="24553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2052" name="Picture 4" descr="Adobe Stock">
            <a:extLst>
              <a:ext uri="{FF2B5EF4-FFF2-40B4-BE49-F238E27FC236}">
                <a16:creationId xmlns:a16="http://schemas.microsoft.com/office/drawing/2014/main" id="{1775FE5E-C53F-7712-5229-A43A068935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40" y="5102890"/>
            <a:ext cx="9601200" cy="185375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
        <p:nvSpPr>
          <p:cNvPr id="10" name="TextBox 7">
            <a:extLst>
              <a:ext uri="{FF2B5EF4-FFF2-40B4-BE49-F238E27FC236}">
                <a16:creationId xmlns:a16="http://schemas.microsoft.com/office/drawing/2014/main" id="{0B639D79-E707-CA1F-1FE1-49E2FA150D27}"/>
              </a:ext>
            </a:extLst>
          </p:cNvPr>
          <p:cNvSpPr txBox="1"/>
          <p:nvPr/>
        </p:nvSpPr>
        <p:spPr>
          <a:xfrm>
            <a:off x="2323381" y="1169995"/>
            <a:ext cx="5259237" cy="2277547"/>
          </a:xfrm>
          <a:prstGeom prst="rect">
            <a:avLst/>
          </a:prstGeom>
        </p:spPr>
        <p:txBody>
          <a:bodyPr wrap="square" lIns="0" tIns="0" rIns="0" bIns="0" rtlCol="0" anchor="t">
            <a:spAutoFit/>
          </a:bodyPr>
          <a:lstStyle/>
          <a:p>
            <a:pPr algn="ctr"/>
            <a:r>
              <a:rPr lang="en-US" sz="6000" dirty="0">
                <a:solidFill>
                  <a:srgbClr val="372A28"/>
                </a:solidFill>
                <a:latin typeface="ITC Avant Garde Gothic"/>
                <a:ea typeface="ITC Avant Garde Gothic"/>
                <a:cs typeface="ITC Avant Garde Gothic"/>
                <a:sym typeface="ITC Avant Garde Gothic"/>
              </a:rPr>
              <a:t>THANK YOU</a:t>
            </a:r>
          </a:p>
          <a:p>
            <a:pPr algn="ctr"/>
            <a:r>
              <a:rPr lang="en-US" sz="2800" dirty="0">
                <a:solidFill>
                  <a:srgbClr val="372A28"/>
                </a:solidFill>
                <a:latin typeface="ITC Avant Garde Gothic"/>
                <a:ea typeface="ITC Avant Garde Gothic"/>
                <a:cs typeface="ITC Avant Garde Gothic"/>
                <a:sym typeface="ITC Avant Garde Gothic"/>
              </a:rPr>
              <a:t>&amp;</a:t>
            </a:r>
          </a:p>
          <a:p>
            <a:pPr algn="ctr"/>
            <a:r>
              <a:rPr lang="en-US" sz="6000" dirty="0">
                <a:solidFill>
                  <a:srgbClr val="372A28"/>
                </a:solidFill>
                <a:latin typeface="ITC Avant Garde Gothic"/>
                <a:ea typeface="ITC Avant Garde Gothic"/>
                <a:cs typeface="ITC Avant Garde Gothic"/>
                <a:sym typeface="ITC Avant Garde Gothic"/>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532</Words>
  <Application>Microsoft Office PowerPoint</Application>
  <PresentationFormat>Custom</PresentationFormat>
  <Paragraphs>68</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Fira Code</vt:lpstr>
      <vt:lpstr>ITC Avant Garde Gothic</vt:lpstr>
      <vt:lpstr>Wingdings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Black Minimalist Pitch Deck Presentation</dc:title>
  <cp:lastModifiedBy>Lawrence Maina</cp:lastModifiedBy>
  <cp:revision>4</cp:revision>
  <dcterms:created xsi:type="dcterms:W3CDTF">2006-08-16T00:00:00Z</dcterms:created>
  <dcterms:modified xsi:type="dcterms:W3CDTF">2025-11-30T18:48:20Z</dcterms:modified>
  <dc:identifier>DAG3MJPtwgA</dc:identifier>
</cp:coreProperties>
</file>