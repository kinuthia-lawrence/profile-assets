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65" r:id="rId7"/>
    <p:sldId id="266" r:id="rId8"/>
    <p:sldId id="263" r:id="rId9"/>
    <p:sldId id="264" r:id="rId10"/>
  </p:sldIdLst>
  <p:sldSz cx="9753600" cy="7315200"/>
  <p:notesSz cx="6858000" cy="9144000"/>
  <p:embeddedFontLst>
    <p:embeddedFont>
      <p:font typeface="Fira Code" panose="020B0809050000020004" pitchFamily="49" charset="0"/>
      <p:regular r:id="rId12"/>
      <p:bold r:id="rId13"/>
    </p:embeddedFont>
    <p:embeddedFont>
      <p:font typeface="Impact" panose="020B0806030902050204" pitchFamily="34" charset="0"/>
      <p:regular r:id="rId14"/>
    </p:embeddedFont>
    <p:embeddedFont>
      <p:font typeface="ITC Avant Garde Gothic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572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66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7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8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2FA3930-3CF0-4B31-AD8F-F9AFEE097CB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C42DB6E-7362-47C9-818F-0AAE875A2BF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EDDDB67-7CFE-40D6-882A-4F527D6D976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EFD61FB-D6C0-4091-AE3F-2A5074F1BBD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ECA1BD6-69C3-431C-9AF3-A63B1905727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7CEA9-DB67-D0B0-E763-F751F22B6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>
            <a:extLst>
              <a:ext uri="{FF2B5EF4-FFF2-40B4-BE49-F238E27FC236}">
                <a16:creationId xmlns:a16="http://schemas.microsoft.com/office/drawing/2014/main" id="{4B6446F5-95A0-1F88-55B7-2A4EDBDCAB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>
            <a:extLst>
              <a:ext uri="{FF2B5EF4-FFF2-40B4-BE49-F238E27FC236}">
                <a16:creationId xmlns:a16="http://schemas.microsoft.com/office/drawing/2014/main" id="{BB645F28-241F-D76C-3FE7-7E1735A05E0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3">
            <a:extLst>
              <a:ext uri="{FF2B5EF4-FFF2-40B4-BE49-F238E27FC236}">
                <a16:creationId xmlns:a16="http://schemas.microsoft.com/office/drawing/2014/main" id="{8F576F64-6003-5DA7-815A-06F59FAF9982}"/>
              </a:ext>
            </a:extLst>
          </p:cNvPr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ECA1BD6-69C3-431C-9AF3-A63B1905727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554765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2640" cy="308412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5207F2E-3D2B-4F2F-815A-394379F6ABD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2640" cy="308412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Thank you for your attention!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 are ready to answer any questions you may have about our project.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4A0EF33-AB96-4580-9EA2-4BBEB872CCF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F064A3F-05C3-48AE-9651-C5E12ECACA4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87440" y="1711440"/>
            <a:ext cx="8776440" cy="424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90A489A-A4D7-4DA3-BE82-9857763ED49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title"/>
          </p:nvPr>
        </p:nvSpPr>
        <p:spPr>
          <a:xfrm>
            <a:off x="487440" y="291600"/>
            <a:ext cx="8775720" cy="121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487440" y="1711440"/>
            <a:ext cx="8775720" cy="424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000" cy="115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948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000" cy="468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BF5A855-6C31-4B8B-9A9D-9EB095750C9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240" cy="56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240" cy="4112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240" cy="802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3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5DA7B31-0DB4-4D6F-A3F5-F2461412D42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240" cy="146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B81EC98-DE29-4D8D-A13E-D303B861D89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487440" y="1711440"/>
            <a:ext cx="8776440" cy="424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440" cy="45237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3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DBCA4CF-F8BE-4908-822D-0013EC4E96F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240" cy="58492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7760" cy="58492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8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EEEF716-6750-41A9-BCDA-BF12D2407A1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440" cy="4523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3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4AA537C-CD36-4777-833D-B8B58E3530F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240" cy="136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240" cy="149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C06ACC0-8818-466C-8145-4ED3BA306B3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6320" cy="4523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6320" cy="4523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2A096A5-65E8-46FA-B0B1-456BCA7CAE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120" cy="63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120" cy="394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9560" cy="63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9560" cy="394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7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2" name="PlaceHolder 8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130DC41-950B-4232-BE09-0A09CA66F67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4"/>
          <p:cNvGrpSpPr/>
          <p:nvPr/>
        </p:nvGrpSpPr>
        <p:grpSpPr>
          <a:xfrm>
            <a:off x="0" y="5846760"/>
            <a:ext cx="9751320" cy="1466280"/>
            <a:chOff x="0" y="5846760"/>
            <a:chExt cx="9751320" cy="1466280"/>
          </a:xfrm>
        </p:grpSpPr>
        <p:sp>
          <p:nvSpPr>
            <p:cNvPr id="70" name="Freeform 5"/>
            <p:cNvSpPr/>
            <p:nvPr/>
          </p:nvSpPr>
          <p:spPr>
            <a:xfrm>
              <a:off x="0" y="5867280"/>
              <a:ext cx="9751320" cy="1445760"/>
            </a:xfrm>
            <a:custGeom>
              <a:avLst/>
              <a:gdLst>
                <a:gd name="textAreaLeft" fmla="*/ 0 w 9751320"/>
                <a:gd name="textAreaRight" fmla="*/ 9753480 w 9751320"/>
                <a:gd name="textAreaTop" fmla="*/ 0 h 1445760"/>
                <a:gd name="textAreaBottom" fmla="*/ 1447920 h 1445760"/>
              </a:gdLst>
              <a:ahLst/>
              <a:cxnLst/>
              <a:rect l="textAreaLeft" t="textAreaTop" r="textAreaRight" b="textAreaBottom"/>
              <a:pathLst>
                <a:path w="3612445" h="671870">
                  <a:moveTo>
                    <a:pt x="0" y="0"/>
                  </a:moveTo>
                  <a:lnTo>
                    <a:pt x="3612445" y="0"/>
                  </a:lnTo>
                  <a:lnTo>
                    <a:pt x="3612445" y="671870"/>
                  </a:lnTo>
                  <a:lnTo>
                    <a:pt x="0" y="671870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1" name="TextBox 6"/>
            <p:cNvSpPr/>
            <p:nvPr/>
          </p:nvSpPr>
          <p:spPr>
            <a:xfrm>
              <a:off x="0" y="5846760"/>
              <a:ext cx="9751320" cy="1466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16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72" name="TextBox 7"/>
          <p:cNvSpPr/>
          <p:nvPr/>
        </p:nvSpPr>
        <p:spPr>
          <a:xfrm>
            <a:off x="0" y="0"/>
            <a:ext cx="6399720" cy="16455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5400" b="0" u="none" strike="noStrike">
                <a:solidFill>
                  <a:srgbClr val="F6F9D4"/>
                </a:solidFill>
                <a:effectLst/>
                <a:uFillTx/>
                <a:latin typeface="Impact"/>
                <a:ea typeface="ITC Avant Garde Gothic"/>
              </a:rPr>
              <a:t>LIFELINK BLOOD DONATION PLATFORM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8"/>
          <p:cNvSpPr/>
          <p:nvPr/>
        </p:nvSpPr>
        <p:spPr>
          <a:xfrm>
            <a:off x="124200" y="6172200"/>
            <a:ext cx="9452520" cy="106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801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Fira Code"/>
                <a:ea typeface="Fira Code"/>
              </a:rPr>
              <a:t>Revolutionizing blood donation management in Kenya through AI-powered digital solutions for efficient and transparent blood distribution.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Freeform 9"/>
          <p:cNvSpPr/>
          <p:nvPr/>
        </p:nvSpPr>
        <p:spPr>
          <a:xfrm rot="5400000">
            <a:off x="6155640" y="364320"/>
            <a:ext cx="566280" cy="1445760"/>
          </a:xfrm>
          <a:custGeom>
            <a:avLst/>
            <a:gdLst>
              <a:gd name="textAreaLeft" fmla="*/ 0 w 566280"/>
              <a:gd name="textAreaRight" fmla="*/ 568440 w 566280"/>
              <a:gd name="textAreaTop" fmla="*/ 0 h 1445760"/>
              <a:gd name="textAreaBottom" fmla="*/ 1447920 h 1445760"/>
            </a:gdLst>
            <a:ahLst/>
            <a:cxnLst/>
            <a:rect l="textAreaLeft" t="textAreaTop" r="textAreaRight" b="textAreaBottom"/>
            <a:pathLst>
              <a:path w="586416" h="1662520">
                <a:moveTo>
                  <a:pt x="0" y="0"/>
                </a:moveTo>
                <a:lnTo>
                  <a:pt x="586416" y="0"/>
                </a:lnTo>
                <a:lnTo>
                  <a:pt x="586416" y="1662520"/>
                </a:lnTo>
                <a:lnTo>
                  <a:pt x="0" y="1662520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Picture 15"/>
          <p:cNvSpPr/>
          <p:nvPr/>
        </p:nvSpPr>
        <p:spPr>
          <a:xfrm>
            <a:off x="6469560" y="-754920"/>
            <a:ext cx="2852280" cy="6624360"/>
          </a:xfrm>
          <a:prstGeom prst="roundRect">
            <a:avLst>
              <a:gd name="adj" fmla="val 16667"/>
            </a:avLst>
          </a:prstGeom>
          <a:blipFill rotWithShape="0">
            <a:blip r:embed="rId5"/>
            <a:srcRect/>
            <a:stretch/>
          </a:blipFill>
          <a:ln w="0">
            <a:noFill/>
          </a:ln>
          <a:effectLst>
            <a:outerShdw blurRad="152280" dist="11090" dir="788041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ubtitle 2"/>
          <p:cNvSpPr/>
          <p:nvPr/>
        </p:nvSpPr>
        <p:spPr>
          <a:xfrm>
            <a:off x="140760" y="2804040"/>
            <a:ext cx="5636520" cy="26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rmAutofit fontScale="70000" lnSpcReduction="20000"/>
          </a:bodyPr>
          <a:lstStyle/>
          <a:p>
            <a:pPr algn="ctr" defTabSz="9144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F6F9D4"/>
                </a:solidFill>
                <a:effectLst/>
                <a:highlight>
                  <a:srgbClr val="000000"/>
                </a:highlight>
                <a:uFillTx/>
                <a:latin typeface="Times New Roman"/>
              </a:rPr>
              <a:t>FACULTY: </a:t>
            </a:r>
            <a:r>
              <a:rPr lang="en-US" sz="3200" b="0" u="none" strike="noStrike" dirty="0">
                <a:solidFill>
                  <a:srgbClr val="F6F9D4"/>
                </a:solidFill>
                <a:effectLst/>
                <a:highlight>
                  <a:srgbClr val="000000"/>
                </a:highlight>
                <a:uFillTx/>
                <a:latin typeface="Times New Roman"/>
              </a:rPr>
              <a:t>FACULTY OF SCIENCE AND TECHNOLOGY</a:t>
            </a:r>
            <a:br>
              <a:rPr sz="3200" dirty="0"/>
            </a:br>
            <a:br>
              <a:rPr sz="3200" dirty="0"/>
            </a:br>
            <a:r>
              <a:rPr lang="en-US" sz="3200" b="1" u="none" strike="noStrike" dirty="0">
                <a:solidFill>
                  <a:srgbClr val="F6F9D4"/>
                </a:solidFill>
                <a:effectLst/>
                <a:highlight>
                  <a:srgbClr val="000000"/>
                </a:highlight>
                <a:uFillTx/>
                <a:latin typeface="Times New Roman"/>
              </a:rPr>
              <a:t>DEPARTMENT: </a:t>
            </a:r>
            <a:r>
              <a:rPr lang="en-US" sz="3200" b="0" u="none" strike="noStrike" dirty="0">
                <a:solidFill>
                  <a:srgbClr val="F6F9D4"/>
                </a:solidFill>
                <a:effectLst/>
                <a:highlight>
                  <a:srgbClr val="000000"/>
                </a:highlight>
                <a:uFillTx/>
                <a:latin typeface="Times New Roman"/>
              </a:rPr>
              <a:t>COMPUTER SCIENCE</a:t>
            </a:r>
            <a:br>
              <a:rPr sz="3200" dirty="0"/>
            </a:br>
            <a:br>
              <a:rPr sz="3200" dirty="0"/>
            </a:br>
            <a:r>
              <a:rPr lang="en-US" sz="3200" b="1" u="none" strike="noStrike" dirty="0">
                <a:solidFill>
                  <a:srgbClr val="F6F9D4"/>
                </a:solidFill>
                <a:effectLst/>
                <a:highlight>
                  <a:srgbClr val="000000"/>
                </a:highlight>
                <a:uFillTx/>
                <a:latin typeface="Times New Roman"/>
              </a:rPr>
              <a:t>NAME: </a:t>
            </a:r>
            <a:r>
              <a:rPr lang="en-US" sz="3200" b="0" u="none" strike="noStrike" dirty="0">
                <a:solidFill>
                  <a:srgbClr val="F6F9D4"/>
                </a:solidFill>
                <a:effectLst/>
                <a:highlight>
                  <a:srgbClr val="000000"/>
                </a:highlight>
                <a:uFillTx/>
                <a:latin typeface="Times New Roman"/>
              </a:rPr>
              <a:t>CYNTHIA BONARERI ORINA</a:t>
            </a:r>
            <a:br>
              <a:rPr sz="3200" dirty="0"/>
            </a:br>
            <a:r>
              <a:rPr lang="en-US" sz="3200" b="0" u="none" strike="noStrike" dirty="0">
                <a:solidFill>
                  <a:srgbClr val="F6F9D4"/>
                </a:solidFill>
                <a:effectLst/>
                <a:highlight>
                  <a:srgbClr val="000000"/>
                </a:highlight>
                <a:uFillTx/>
                <a:latin typeface="Times New Roman"/>
              </a:rPr>
              <a:t> </a:t>
            </a:r>
            <a:br>
              <a:rPr sz="3200" dirty="0"/>
            </a:br>
            <a:r>
              <a:rPr lang="en-US" sz="3200" b="1" u="none" strike="noStrike" dirty="0">
                <a:solidFill>
                  <a:srgbClr val="F6F9D4"/>
                </a:solidFill>
                <a:effectLst/>
                <a:highlight>
                  <a:srgbClr val="000000"/>
                </a:highlight>
                <a:uFillTx/>
                <a:latin typeface="Times New Roman"/>
              </a:rPr>
              <a:t>REG NO: </a:t>
            </a:r>
            <a:r>
              <a:rPr lang="en-US" sz="3200" b="0" u="none" strike="noStrike" dirty="0">
                <a:solidFill>
                  <a:srgbClr val="F6F9D4"/>
                </a:solidFill>
                <a:effectLst/>
                <a:highlight>
                  <a:srgbClr val="000000"/>
                </a:highlight>
                <a:uFillTx/>
                <a:latin typeface="Times New Roman"/>
              </a:rPr>
              <a:t>EB1/61379/22</a:t>
            </a:r>
            <a:br>
              <a:rPr sz="3200" dirty="0"/>
            </a:br>
            <a:endParaRPr lang="en-US" sz="3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2"/>
          <p:cNvSpPr/>
          <p:nvPr/>
        </p:nvSpPr>
        <p:spPr>
          <a:xfrm>
            <a:off x="544320" y="797400"/>
            <a:ext cx="9103680" cy="8884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6999"/>
              </a:lnSpc>
            </a:pPr>
            <a:r>
              <a:rPr lang="en-US" sz="4800" b="1" u="none" strike="noStrike">
                <a:solidFill>
                  <a:srgbClr val="F6F9D4"/>
                </a:solidFill>
                <a:effectLst/>
                <a:uFillTx/>
                <a:latin typeface="Calibri"/>
              </a:rPr>
              <a:t>BACKGROUND TO THE STUDY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78" name="Group 19"/>
          <p:cNvGrpSpPr/>
          <p:nvPr/>
        </p:nvGrpSpPr>
        <p:grpSpPr>
          <a:xfrm>
            <a:off x="509040" y="1933560"/>
            <a:ext cx="8861400" cy="5074560"/>
            <a:chOff x="509040" y="1933560"/>
            <a:chExt cx="8861400" cy="5074560"/>
          </a:xfrm>
        </p:grpSpPr>
        <p:grpSp>
          <p:nvGrpSpPr>
            <p:cNvPr id="79" name="Group 3"/>
            <p:cNvGrpSpPr/>
            <p:nvPr/>
          </p:nvGrpSpPr>
          <p:grpSpPr>
            <a:xfrm>
              <a:off x="509040" y="1933560"/>
              <a:ext cx="8861400" cy="5074560"/>
              <a:chOff x="509040" y="1933560"/>
              <a:chExt cx="8861400" cy="5074560"/>
            </a:xfrm>
          </p:grpSpPr>
          <p:sp>
            <p:nvSpPr>
              <p:cNvPr id="80" name="Freeform 4"/>
              <p:cNvSpPr/>
              <p:nvPr/>
            </p:nvSpPr>
            <p:spPr>
              <a:xfrm>
                <a:off x="509040" y="1989000"/>
                <a:ext cx="8849520" cy="4963680"/>
              </a:xfrm>
              <a:custGeom>
                <a:avLst/>
                <a:gdLst>
                  <a:gd name="textAreaLeft" fmla="*/ 0 w 8849520"/>
                  <a:gd name="textAreaRight" fmla="*/ 8851680 w 8849520"/>
                  <a:gd name="textAreaTop" fmla="*/ 0 h 4963680"/>
                  <a:gd name="textAreaBottom" fmla="*/ 4965840 h 4963680"/>
                </a:gdLst>
                <a:ahLst/>
                <a:cxnLst/>
                <a:rect l="textAreaLeft" t="textAreaTop" r="textAreaRight" b="textAreaBottom"/>
                <a:pathLst>
                  <a:path w="1606301" h="426565">
                    <a:moveTo>
                      <a:pt x="178508" y="0"/>
                    </a:moveTo>
                    <a:lnTo>
                      <a:pt x="1427793" y="0"/>
                    </a:lnTo>
                    <a:cubicBezTo>
                      <a:pt x="1475136" y="0"/>
                      <a:pt x="1520541" y="18807"/>
                      <a:pt x="1554017" y="52284"/>
                    </a:cubicBezTo>
                    <a:cubicBezTo>
                      <a:pt x="1587494" y="85761"/>
                      <a:pt x="1606301" y="131165"/>
                      <a:pt x="1606301" y="178508"/>
                    </a:cubicBezTo>
                    <a:lnTo>
                      <a:pt x="1606301" y="248056"/>
                    </a:lnTo>
                    <a:cubicBezTo>
                      <a:pt x="1606301" y="295400"/>
                      <a:pt x="1587494" y="340804"/>
                      <a:pt x="1554017" y="374281"/>
                    </a:cubicBezTo>
                    <a:cubicBezTo>
                      <a:pt x="1520541" y="407758"/>
                      <a:pt x="1475136" y="426565"/>
                      <a:pt x="1427793" y="426565"/>
                    </a:cubicBezTo>
                    <a:lnTo>
                      <a:pt x="178508" y="426565"/>
                    </a:lnTo>
                    <a:cubicBezTo>
                      <a:pt x="131165" y="426565"/>
                      <a:pt x="85761" y="407758"/>
                      <a:pt x="52284" y="374281"/>
                    </a:cubicBezTo>
                    <a:cubicBezTo>
                      <a:pt x="18807" y="340804"/>
                      <a:pt x="0" y="295400"/>
                      <a:pt x="0" y="248056"/>
                    </a:cubicBezTo>
                    <a:lnTo>
                      <a:pt x="0" y="178508"/>
                    </a:lnTo>
                    <a:cubicBezTo>
                      <a:pt x="0" y="131165"/>
                      <a:pt x="18807" y="85761"/>
                      <a:pt x="52284" y="52284"/>
                    </a:cubicBezTo>
                    <a:cubicBezTo>
                      <a:pt x="85761" y="18807"/>
                      <a:pt x="131165" y="0"/>
                      <a:pt x="17850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9050" cap="rnd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1" name="TextBox 5"/>
              <p:cNvSpPr/>
              <p:nvPr/>
            </p:nvSpPr>
            <p:spPr>
              <a:xfrm>
                <a:off x="520920" y="1933560"/>
                <a:ext cx="8849520" cy="5074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0760" tIns="50760" rIns="50760" bIns="50760" anchor="ctr">
                <a:noAutofit/>
              </a:bodyPr>
              <a:lstStyle/>
              <a:p>
                <a:pPr algn="ctr" defTabSz="914400">
                  <a:lnSpc>
                    <a:spcPts val="216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sp>
          <p:nvSpPr>
            <p:cNvPr id="82" name="TextBox 6"/>
            <p:cNvSpPr/>
            <p:nvPr/>
          </p:nvSpPr>
          <p:spPr>
            <a:xfrm>
              <a:off x="1219320" y="2590920"/>
              <a:ext cx="7236720" cy="391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marL="343080" indent="-343080" defTabSz="914400">
                <a:lnSpc>
                  <a:spcPct val="150000"/>
                </a:lnSpc>
                <a:spcBef>
                  <a:spcPts val="1191"/>
                </a:spcBef>
                <a:spcAft>
                  <a:spcPts val="992"/>
                </a:spcAft>
                <a:buClr>
                  <a:srgbClr val="FFFFFF"/>
                </a:buClr>
                <a:buFont typeface="Wingdings" charset="2"/>
                <a:buChar char=""/>
              </a:pPr>
              <a:r>
                <a:rPr lang="en-US" sz="2100" b="1" u="none" strike="noStrike" dirty="0" err="1">
                  <a:solidFill>
                    <a:srgbClr val="FFFFFF"/>
                  </a:solidFill>
                  <a:effectLst/>
                  <a:uFillTx/>
                  <a:latin typeface="Times New Roman"/>
                  <a:ea typeface="Fira Code"/>
                </a:rPr>
                <a:t>LifeLink</a:t>
              </a:r>
              <a:r>
                <a:rPr lang="en-US" sz="2100" b="1" u="none" strike="noStrike" dirty="0">
                  <a:solidFill>
                    <a:srgbClr val="FFFFFF"/>
                  </a:solidFill>
                  <a:effectLst/>
                  <a:uFillTx/>
                  <a:latin typeface="Times New Roman"/>
                  <a:ea typeface="Fira Code"/>
                </a:rPr>
                <a:t> is a smart, digitized blood donation and management platform.</a:t>
              </a:r>
              <a:endParaRPr lang="en-US" sz="21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343080" indent="-343080" defTabSz="914400">
                <a:lnSpc>
                  <a:spcPct val="150000"/>
                </a:lnSpc>
                <a:spcBef>
                  <a:spcPts val="1191"/>
                </a:spcBef>
                <a:spcAft>
                  <a:spcPts val="992"/>
                </a:spcAft>
                <a:buClr>
                  <a:srgbClr val="FFFFFF"/>
                </a:buClr>
                <a:buFont typeface="Wingdings" charset="2"/>
                <a:buChar char=""/>
              </a:pPr>
              <a:r>
                <a:rPr lang="en-US" sz="2100" b="1" u="none" strike="noStrike" dirty="0">
                  <a:solidFill>
                    <a:srgbClr val="FFFFFF"/>
                  </a:solidFill>
                  <a:effectLst/>
                  <a:uFillTx/>
                  <a:latin typeface="Times New Roman"/>
                  <a:ea typeface="Fira Code"/>
                </a:rPr>
                <a:t>It aims to modernize Kenya’s blood donation ecosystem by improving donor recruitment, management, and hospital coordination.</a:t>
              </a:r>
              <a:endParaRPr lang="en-US" sz="21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343080" indent="-343080" defTabSz="914400">
                <a:lnSpc>
                  <a:spcPct val="150000"/>
                </a:lnSpc>
                <a:spcBef>
                  <a:spcPts val="1191"/>
                </a:spcBef>
                <a:spcAft>
                  <a:spcPts val="992"/>
                </a:spcAft>
                <a:buClr>
                  <a:srgbClr val="FFFFFF"/>
                </a:buClr>
                <a:buFont typeface="Wingdings" charset="2"/>
                <a:buChar char=""/>
              </a:pPr>
              <a:r>
                <a:rPr lang="en-US" sz="2100" b="1" u="none" strike="noStrike" dirty="0">
                  <a:solidFill>
                    <a:srgbClr val="FFFFFF"/>
                  </a:solidFill>
                  <a:effectLst/>
                  <a:uFillTx/>
                  <a:latin typeface="Times New Roman"/>
                  <a:ea typeface="Fira Code"/>
                </a:rPr>
                <a:t>The system provides real-time monitoring and communication between donors, hospitals, and blood banks.</a:t>
              </a:r>
              <a:endParaRPr lang="en-US" sz="21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82"/>
          <p:cNvPicPr/>
          <p:nvPr/>
        </p:nvPicPr>
        <p:blipFill>
          <a:blip r:embed="rId3"/>
          <a:stretch/>
        </p:blipFill>
        <p:spPr>
          <a:xfrm>
            <a:off x="-4680" y="1600200"/>
            <a:ext cx="3204000" cy="571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TextBox 2"/>
          <p:cNvSpPr/>
          <p:nvPr/>
        </p:nvSpPr>
        <p:spPr>
          <a:xfrm>
            <a:off x="-4680" y="0"/>
            <a:ext cx="9147960" cy="88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6999"/>
              </a:lnSpc>
            </a:pPr>
            <a:r>
              <a:rPr lang="en-US" sz="7000" b="0" u="none" strike="noStrike">
                <a:solidFill>
                  <a:srgbClr val="372A28"/>
                </a:solidFill>
                <a:effectLst/>
                <a:uFillTx/>
                <a:latin typeface="ITC Avant Garde Gothic"/>
                <a:ea typeface="ITC Avant Garde Gothic"/>
              </a:rPr>
              <a:t>PROBLEM STATEMENT</a:t>
            </a:r>
            <a:endParaRPr lang="en-US" sz="7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3"/>
          <p:cNvSpPr/>
          <p:nvPr/>
        </p:nvSpPr>
        <p:spPr>
          <a:xfrm>
            <a:off x="3447204" y="2115493"/>
            <a:ext cx="6214156" cy="468333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marL="285840" indent="-28584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"/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Kenya faces the following major issues: 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"/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Blood shortages due to: 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Poor communication in cases of emergencies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Poor Donor Retention due to not engaging the donors and limited feedback mechanisms.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"/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Manual donor records led to delays, duplication, and data loss.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"/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Lack of real-time donor information and blood stock visibility across hospitals.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"/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Fragmented blood donation systems with lack of centralization.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"/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There are no predictive systems for identifying blood shortages, seasonal needs and regional variations in supply.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roup 4"/>
          <p:cNvGrpSpPr/>
          <p:nvPr/>
        </p:nvGrpSpPr>
        <p:grpSpPr>
          <a:xfrm>
            <a:off x="0" y="-25560"/>
            <a:ext cx="9751320" cy="2654640"/>
            <a:chOff x="0" y="-25560"/>
            <a:chExt cx="9751320" cy="2654640"/>
          </a:xfrm>
        </p:grpSpPr>
        <p:sp>
          <p:nvSpPr>
            <p:cNvPr id="94" name="Freeform 5"/>
            <p:cNvSpPr/>
            <p:nvPr/>
          </p:nvSpPr>
          <p:spPr>
            <a:xfrm>
              <a:off x="0" y="0"/>
              <a:ext cx="9751320" cy="2628720"/>
            </a:xfrm>
            <a:custGeom>
              <a:avLst/>
              <a:gdLst>
                <a:gd name="textAreaLeft" fmla="*/ 0 w 9751320"/>
                <a:gd name="textAreaRight" fmla="*/ 9753480 w 9751320"/>
                <a:gd name="textAreaTop" fmla="*/ 0 h 2628720"/>
                <a:gd name="textAreaBottom" fmla="*/ 2630880 h 2628720"/>
              </a:gdLst>
              <a:ahLst/>
              <a:cxnLst/>
              <a:rect l="textAreaLeft" t="textAreaTop" r="textAreaRight" b="textAreaBottom"/>
              <a:pathLst>
                <a:path w="3612445" h="974417">
                  <a:moveTo>
                    <a:pt x="0" y="0"/>
                  </a:moveTo>
                  <a:lnTo>
                    <a:pt x="3612445" y="0"/>
                  </a:lnTo>
                  <a:lnTo>
                    <a:pt x="3612445" y="974417"/>
                  </a:lnTo>
                  <a:lnTo>
                    <a:pt x="0" y="974417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800" b="0" u="none" strike="noStrike" dirty="0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5" name="TextBox 6"/>
            <p:cNvSpPr/>
            <p:nvPr/>
          </p:nvSpPr>
          <p:spPr>
            <a:xfrm>
              <a:off x="0" y="-25560"/>
              <a:ext cx="9751320" cy="265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16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96" name="TextBox 12"/>
          <p:cNvSpPr/>
          <p:nvPr/>
        </p:nvSpPr>
        <p:spPr>
          <a:xfrm>
            <a:off x="731520" y="4397400"/>
            <a:ext cx="1331280" cy="891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ctr">
            <a:noAutofit/>
          </a:bodyPr>
          <a:lstStyle/>
          <a:p>
            <a:pPr algn="ctr" defTabSz="914400">
              <a:lnSpc>
                <a:spcPts val="216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Freeform 16"/>
          <p:cNvSpPr/>
          <p:nvPr/>
        </p:nvSpPr>
        <p:spPr>
          <a:xfrm rot="5400000">
            <a:off x="7074720" y="190800"/>
            <a:ext cx="584280" cy="1660320"/>
          </a:xfrm>
          <a:custGeom>
            <a:avLst/>
            <a:gdLst>
              <a:gd name="textAreaLeft" fmla="*/ 0 w 584280"/>
              <a:gd name="textAreaRight" fmla="*/ 586440 w 584280"/>
              <a:gd name="textAreaTop" fmla="*/ 0 h 1660320"/>
              <a:gd name="textAreaBottom" fmla="*/ 1662480 h 1660320"/>
            </a:gdLst>
            <a:ahLst/>
            <a:cxnLst/>
            <a:rect l="textAreaLeft" t="textAreaTop" r="textAreaRight" b="textAreaBottom"/>
            <a:pathLst>
              <a:path w="586416" h="1662520">
                <a:moveTo>
                  <a:pt x="0" y="0"/>
                </a:moveTo>
                <a:lnTo>
                  <a:pt x="586416" y="0"/>
                </a:lnTo>
                <a:lnTo>
                  <a:pt x="586416" y="1662520"/>
                </a:lnTo>
                <a:lnTo>
                  <a:pt x="0" y="1662520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17"/>
          <p:cNvSpPr/>
          <p:nvPr/>
        </p:nvSpPr>
        <p:spPr>
          <a:xfrm>
            <a:off x="619225" y="357379"/>
            <a:ext cx="5805180" cy="89768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defTabSz="914400">
              <a:lnSpc>
                <a:spcPts val="6999"/>
              </a:lnSpc>
            </a:pPr>
            <a:r>
              <a:rPr lang="en-US" sz="7000" b="0" u="none" strike="noStrike" dirty="0">
                <a:solidFill>
                  <a:srgbClr val="FFFFFF"/>
                </a:solidFill>
                <a:effectLst/>
                <a:uFillTx/>
                <a:latin typeface="ITC Avant Garde Gothic"/>
                <a:ea typeface="ITC Avant Garde Gothic"/>
              </a:rPr>
              <a:t>OBJECTIVES </a:t>
            </a:r>
            <a:endParaRPr lang="en-US" sz="7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18"/>
          <p:cNvSpPr/>
          <p:nvPr/>
        </p:nvSpPr>
        <p:spPr>
          <a:xfrm>
            <a:off x="164160" y="2620800"/>
            <a:ext cx="8064000" cy="51751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Specific: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800" dirty="0"/>
              <a:t>To implement secure multi-role authentication and access control.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800" dirty="0"/>
              <a:t>To implement donor profile completion, eligibility updates, and donation history tracking.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800" dirty="0"/>
              <a:t>To implement blood request lifecycle management and fulfillment workflows.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800" dirty="0"/>
              <a:t>To implement analytics and forecasting dashboards for operations support.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800" dirty="0"/>
              <a:t>To implement notifications and audit logs for traceability.</a:t>
            </a:r>
          </a:p>
          <a:p>
            <a:pPr defTabSz="914400">
              <a:lnSpc>
                <a:spcPct val="150000"/>
              </a:lnSpc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18"/>
          <p:cNvSpPr/>
          <p:nvPr/>
        </p:nvSpPr>
        <p:spPr>
          <a:xfrm>
            <a:off x="152280" y="1612440"/>
            <a:ext cx="9599040" cy="85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Fira Code"/>
              </a:rPr>
              <a:t>General: To design and implement an intelligent digital platform that improves blood donation efficiency and availability in Kenya.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00"/>
          <p:cNvPicPr/>
          <p:nvPr/>
        </p:nvPicPr>
        <p:blipFill>
          <a:blip r:embed="rId3"/>
          <a:stretch/>
        </p:blipFill>
        <p:spPr>
          <a:xfrm>
            <a:off x="0" y="0"/>
            <a:ext cx="1827720" cy="150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Box 2"/>
          <p:cNvSpPr/>
          <p:nvPr/>
        </p:nvSpPr>
        <p:spPr>
          <a:xfrm>
            <a:off x="1298160" y="169920"/>
            <a:ext cx="7155360" cy="88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6999"/>
              </a:lnSpc>
            </a:pPr>
            <a:r>
              <a:rPr lang="en-US" sz="4200" b="1" u="none" strike="noStrike">
                <a:solidFill>
                  <a:srgbClr val="372A28"/>
                </a:solidFill>
                <a:effectLst/>
                <a:uFillTx/>
                <a:latin typeface="Times New Roman"/>
                <a:ea typeface="ITC Avant Garde Gothic"/>
              </a:rPr>
              <a:t>Key Features of LifeLink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3"/>
          <p:cNvSpPr/>
          <p:nvPr/>
        </p:nvSpPr>
        <p:spPr>
          <a:xfrm>
            <a:off x="587519" y="2244012"/>
            <a:ext cx="8553240" cy="41288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Donor Management System: Registration, eligibility tracking, donation history.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Hospital Dashboard: Real-time stock levels, request management.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Shortage Prediction Module: Forecasts blood supply gaps.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Notifications &amp; Awareness: app alerts, donation reminders.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Secure Database: Centralized, scalable data management.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Freeform 10"/>
          <p:cNvSpPr/>
          <p:nvPr/>
        </p:nvSpPr>
        <p:spPr>
          <a:xfrm rot="16200000">
            <a:off x="8012520" y="-107280"/>
            <a:ext cx="884160" cy="1419120"/>
          </a:xfrm>
          <a:custGeom>
            <a:avLst/>
            <a:gdLst>
              <a:gd name="textAreaLeft" fmla="*/ 0 w 884160"/>
              <a:gd name="textAreaRight" fmla="*/ 886320 w 884160"/>
              <a:gd name="textAreaTop" fmla="*/ 0 h 1419120"/>
              <a:gd name="textAreaBottom" fmla="*/ 1421280 h 1419120"/>
            </a:gdLst>
            <a:ahLst/>
            <a:cxnLst/>
            <a:rect l="textAreaLeft" t="textAreaTop" r="textAreaRight" b="textAreaBottom"/>
            <a:pathLst>
              <a:path w="886358" h="1421274">
                <a:moveTo>
                  <a:pt x="0" y="0"/>
                </a:moveTo>
                <a:lnTo>
                  <a:pt x="886358" y="0"/>
                </a:lnTo>
                <a:lnTo>
                  <a:pt x="886358" y="1421274"/>
                </a:lnTo>
                <a:lnTo>
                  <a:pt x="0" y="1421274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" name="Freeform 11"/>
          <p:cNvSpPr/>
          <p:nvPr/>
        </p:nvSpPr>
        <p:spPr>
          <a:xfrm rot="16200000">
            <a:off x="855000" y="-89640"/>
            <a:ext cx="884160" cy="1419120"/>
          </a:xfrm>
          <a:custGeom>
            <a:avLst/>
            <a:gdLst>
              <a:gd name="textAreaLeft" fmla="*/ 0 w 884160"/>
              <a:gd name="textAreaRight" fmla="*/ 886320 w 884160"/>
              <a:gd name="textAreaTop" fmla="*/ 0 h 1419120"/>
              <a:gd name="textAreaBottom" fmla="*/ 1421280 h 1419120"/>
            </a:gdLst>
            <a:ahLst/>
            <a:cxnLst/>
            <a:rect l="textAreaLeft" t="textAreaTop" r="textAreaRight" b="textAreaBottom"/>
            <a:pathLst>
              <a:path w="886358" h="1421274">
                <a:moveTo>
                  <a:pt x="0" y="0"/>
                </a:moveTo>
                <a:lnTo>
                  <a:pt x="886358" y="0"/>
                </a:lnTo>
                <a:lnTo>
                  <a:pt x="886358" y="1421274"/>
                </a:lnTo>
                <a:lnTo>
                  <a:pt x="0" y="1421274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C3B8F-3D89-3D98-9AD1-5A3B081CE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00">
            <a:extLst>
              <a:ext uri="{FF2B5EF4-FFF2-40B4-BE49-F238E27FC236}">
                <a16:creationId xmlns:a16="http://schemas.microsoft.com/office/drawing/2014/main" id="{8EEE4A18-CA8F-A103-7A30-FF8F58A3F206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0" y="0"/>
            <a:ext cx="1827720" cy="150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Box 2">
            <a:extLst>
              <a:ext uri="{FF2B5EF4-FFF2-40B4-BE49-F238E27FC236}">
                <a16:creationId xmlns:a16="http://schemas.microsoft.com/office/drawing/2014/main" id="{47B26939-A4B9-EF1A-3728-3176007DC330}"/>
              </a:ext>
            </a:extLst>
          </p:cNvPr>
          <p:cNvSpPr/>
          <p:nvPr/>
        </p:nvSpPr>
        <p:spPr>
          <a:xfrm>
            <a:off x="1119240" y="160200"/>
            <a:ext cx="7155360" cy="7988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6999"/>
              </a:lnSpc>
            </a:pPr>
            <a:r>
              <a:rPr lang="en-US" sz="4200" b="1" u="none" strike="noStrike" dirty="0">
                <a:solidFill>
                  <a:srgbClr val="372A28"/>
                </a:solidFill>
                <a:effectLst/>
                <a:uFillTx/>
                <a:latin typeface="Times New Roman"/>
                <a:ea typeface="ITC Avant Garde Gothic"/>
              </a:rPr>
              <a:t>METHODOLOGY</a:t>
            </a:r>
            <a:endParaRPr lang="en-US" sz="4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3">
            <a:extLst>
              <a:ext uri="{FF2B5EF4-FFF2-40B4-BE49-F238E27FC236}">
                <a16:creationId xmlns:a16="http://schemas.microsoft.com/office/drawing/2014/main" id="{6DF217EE-1F62-AA0F-4DA7-41BBACE02FD5}"/>
              </a:ext>
            </a:extLst>
          </p:cNvPr>
          <p:cNvSpPr/>
          <p:nvPr/>
        </p:nvSpPr>
        <p:spPr>
          <a:xfrm>
            <a:off x="201186" y="2268819"/>
            <a:ext cx="9351227" cy="36894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en-US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Approach: </a:t>
            </a:r>
            <a:r>
              <a:rPr lang="en-US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Mixed methods; combines user feedback with technical analysis(qualitative + quantitative).</a:t>
            </a: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en-US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Research Design</a:t>
            </a:r>
            <a:r>
              <a:rPr lang="en-US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: Systems Development Research Design covering analysis, design, implementation, testing, evaluation.</a:t>
            </a: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en-US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Development Model: </a:t>
            </a:r>
            <a:r>
              <a:rPr lang="en-US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Agile (Scrum); iterative sprints for continuous improvement.</a:t>
            </a: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en-US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Technologies</a:t>
            </a:r>
            <a:r>
              <a:rPr lang="en-US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:  Flutter (mobile), Spring Boot backend, HTML frontend, PostgreSQL, Java-based predictive analytics, cloud deployment (Render).</a:t>
            </a: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en-US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Security: </a:t>
            </a:r>
            <a:r>
              <a:rPr lang="en-US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JWT, </a:t>
            </a:r>
            <a:r>
              <a:rPr lang="en-US" dirty="0" err="1">
                <a:solidFill>
                  <a:schemeClr val="dk1"/>
                </a:solidFill>
                <a:latin typeface="Times New Roman"/>
              </a:rPr>
              <a:t>B</a:t>
            </a:r>
            <a:r>
              <a:rPr lang="en-US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</a:rPr>
              <a:t>crypt</a:t>
            </a:r>
            <a:r>
              <a:rPr lang="en-US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 password, role-based access, compliance with Data Protection Act.</a:t>
            </a: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en-US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Ethics: A</a:t>
            </a:r>
            <a:r>
              <a:rPr lang="en-US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nonymized data, adherence to national guidelines.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Freeform 10">
            <a:extLst>
              <a:ext uri="{FF2B5EF4-FFF2-40B4-BE49-F238E27FC236}">
                <a16:creationId xmlns:a16="http://schemas.microsoft.com/office/drawing/2014/main" id="{0B7052E1-E927-52A4-54FC-9C2C42851347}"/>
              </a:ext>
            </a:extLst>
          </p:cNvPr>
          <p:cNvSpPr/>
          <p:nvPr/>
        </p:nvSpPr>
        <p:spPr>
          <a:xfrm rot="16200000">
            <a:off x="8012520" y="-107280"/>
            <a:ext cx="884160" cy="1419120"/>
          </a:xfrm>
          <a:custGeom>
            <a:avLst/>
            <a:gdLst>
              <a:gd name="textAreaLeft" fmla="*/ 0 w 884160"/>
              <a:gd name="textAreaRight" fmla="*/ 886320 w 884160"/>
              <a:gd name="textAreaTop" fmla="*/ 0 h 1419120"/>
              <a:gd name="textAreaBottom" fmla="*/ 1421280 h 1419120"/>
            </a:gdLst>
            <a:ahLst/>
            <a:cxnLst/>
            <a:rect l="textAreaLeft" t="textAreaTop" r="textAreaRight" b="textAreaBottom"/>
            <a:pathLst>
              <a:path w="886358" h="1421274">
                <a:moveTo>
                  <a:pt x="0" y="0"/>
                </a:moveTo>
                <a:lnTo>
                  <a:pt x="886358" y="0"/>
                </a:lnTo>
                <a:lnTo>
                  <a:pt x="886358" y="1421274"/>
                </a:lnTo>
                <a:lnTo>
                  <a:pt x="0" y="1421274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" name="Freeform 11">
            <a:extLst>
              <a:ext uri="{FF2B5EF4-FFF2-40B4-BE49-F238E27FC236}">
                <a16:creationId xmlns:a16="http://schemas.microsoft.com/office/drawing/2014/main" id="{41503979-80B8-0D9D-106F-EB05888E4187}"/>
              </a:ext>
            </a:extLst>
          </p:cNvPr>
          <p:cNvSpPr/>
          <p:nvPr/>
        </p:nvSpPr>
        <p:spPr>
          <a:xfrm rot="16200000">
            <a:off x="855000" y="-89640"/>
            <a:ext cx="884160" cy="1419120"/>
          </a:xfrm>
          <a:custGeom>
            <a:avLst/>
            <a:gdLst>
              <a:gd name="textAreaLeft" fmla="*/ 0 w 884160"/>
              <a:gd name="textAreaRight" fmla="*/ 886320 w 884160"/>
              <a:gd name="textAreaTop" fmla="*/ 0 h 1419120"/>
              <a:gd name="textAreaBottom" fmla="*/ 1421280 h 1419120"/>
            </a:gdLst>
            <a:ahLst/>
            <a:cxnLst/>
            <a:rect l="textAreaLeft" t="textAreaTop" r="textAreaRight" b="textAreaBottom"/>
            <a:pathLst>
              <a:path w="886358" h="1421274">
                <a:moveTo>
                  <a:pt x="0" y="0"/>
                </a:moveTo>
                <a:lnTo>
                  <a:pt x="886358" y="0"/>
                </a:lnTo>
                <a:lnTo>
                  <a:pt x="886358" y="1421274"/>
                </a:lnTo>
                <a:lnTo>
                  <a:pt x="0" y="1421274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47187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6C8E5E-33E6-5E8C-E716-F7E81D270C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300" y="762000"/>
            <a:ext cx="4953000" cy="5791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7206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2"/>
          <p:cNvSpPr/>
          <p:nvPr/>
        </p:nvSpPr>
        <p:spPr>
          <a:xfrm>
            <a:off x="1784880" y="149400"/>
            <a:ext cx="5987160" cy="88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6999"/>
              </a:lnSpc>
            </a:pPr>
            <a:r>
              <a:rPr lang="en-US" sz="5400" b="0" u="none" strike="noStrike">
                <a:solidFill>
                  <a:srgbClr val="372A28"/>
                </a:solidFill>
                <a:effectLst/>
                <a:uFillTx/>
                <a:latin typeface="ITC Avant Garde Gothic"/>
                <a:ea typeface="ITC Avant Garde Gothic"/>
              </a:rPr>
              <a:t>SYSTEM DESIGN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Freeform 10"/>
          <p:cNvSpPr/>
          <p:nvPr/>
        </p:nvSpPr>
        <p:spPr>
          <a:xfrm rot="16200000">
            <a:off x="8039880" y="-113040"/>
            <a:ext cx="884160" cy="1419120"/>
          </a:xfrm>
          <a:custGeom>
            <a:avLst/>
            <a:gdLst>
              <a:gd name="textAreaLeft" fmla="*/ 0 w 884160"/>
              <a:gd name="textAreaRight" fmla="*/ 886320 w 884160"/>
              <a:gd name="textAreaTop" fmla="*/ 0 h 1419120"/>
              <a:gd name="textAreaBottom" fmla="*/ 1421280 h 1419120"/>
            </a:gdLst>
            <a:ahLst/>
            <a:cxnLst/>
            <a:rect l="textAreaLeft" t="textAreaTop" r="textAreaRight" b="textAreaBottom"/>
            <a:pathLst>
              <a:path w="886358" h="1421274">
                <a:moveTo>
                  <a:pt x="0" y="0"/>
                </a:moveTo>
                <a:lnTo>
                  <a:pt x="886358" y="0"/>
                </a:lnTo>
                <a:lnTo>
                  <a:pt x="886358" y="1421274"/>
                </a:lnTo>
                <a:lnTo>
                  <a:pt x="0" y="1421274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Freeform 11"/>
          <p:cNvSpPr/>
          <p:nvPr/>
        </p:nvSpPr>
        <p:spPr>
          <a:xfrm rot="16200000">
            <a:off x="655920" y="-113040"/>
            <a:ext cx="884160" cy="1419120"/>
          </a:xfrm>
          <a:custGeom>
            <a:avLst/>
            <a:gdLst>
              <a:gd name="textAreaLeft" fmla="*/ 0 w 884160"/>
              <a:gd name="textAreaRight" fmla="*/ 886320 w 884160"/>
              <a:gd name="textAreaTop" fmla="*/ 0 h 1419120"/>
              <a:gd name="textAreaBottom" fmla="*/ 1421280 h 1419120"/>
            </a:gdLst>
            <a:ahLst/>
            <a:cxnLst/>
            <a:rect l="textAreaLeft" t="textAreaTop" r="textAreaRight" b="textAreaBottom"/>
            <a:pathLst>
              <a:path w="886358" h="1421274">
                <a:moveTo>
                  <a:pt x="0" y="0"/>
                </a:moveTo>
                <a:lnTo>
                  <a:pt x="886358" y="0"/>
                </a:lnTo>
                <a:lnTo>
                  <a:pt x="886358" y="1421274"/>
                </a:lnTo>
                <a:lnTo>
                  <a:pt x="0" y="1421274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3"/>
          <p:cNvSpPr/>
          <p:nvPr/>
        </p:nvSpPr>
        <p:spPr>
          <a:xfrm>
            <a:off x="610920" y="1233360"/>
            <a:ext cx="8553240" cy="73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5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" name="Picture 113"/>
          <p:cNvPicPr/>
          <p:nvPr/>
        </p:nvPicPr>
        <p:blipFill>
          <a:blip r:embed="rId4"/>
          <a:srcRect t="16631"/>
          <a:stretch/>
        </p:blipFill>
        <p:spPr>
          <a:xfrm>
            <a:off x="2971800" y="1143000"/>
            <a:ext cx="3885840" cy="5955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oup 4"/>
          <p:cNvGrpSpPr/>
          <p:nvPr/>
        </p:nvGrpSpPr>
        <p:grpSpPr>
          <a:xfrm>
            <a:off x="-46080" y="-229320"/>
            <a:ext cx="9650520" cy="932400"/>
            <a:chOff x="-46080" y="-229320"/>
            <a:chExt cx="9650520" cy="932400"/>
          </a:xfrm>
        </p:grpSpPr>
        <p:sp>
          <p:nvSpPr>
            <p:cNvPr id="116" name="Freeform 5"/>
            <p:cNvSpPr/>
            <p:nvPr/>
          </p:nvSpPr>
          <p:spPr>
            <a:xfrm rot="21588000">
              <a:off x="-44280" y="-186120"/>
              <a:ext cx="9647280" cy="872640"/>
            </a:xfrm>
            <a:custGeom>
              <a:avLst/>
              <a:gdLst>
                <a:gd name="textAreaLeft" fmla="*/ 0 w 9647280"/>
                <a:gd name="textAreaRight" fmla="*/ 9649080 w 9647280"/>
                <a:gd name="textAreaTop" fmla="*/ 0 h 872640"/>
                <a:gd name="textAreaBottom" fmla="*/ 874800 h 872640"/>
              </a:gdLst>
              <a:ahLst/>
              <a:cxnLst/>
              <a:rect l="textAreaLeft" t="textAreaTop" r="textAreaRight" b="textAreaBottom"/>
              <a:pathLst>
                <a:path w="3777854" h="323995">
                  <a:moveTo>
                    <a:pt x="0" y="0"/>
                  </a:moveTo>
                  <a:lnTo>
                    <a:pt x="3777854" y="0"/>
                  </a:lnTo>
                  <a:lnTo>
                    <a:pt x="3777854" y="323995"/>
                  </a:lnTo>
                  <a:lnTo>
                    <a:pt x="0" y="323995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7" name="TextBox 6"/>
            <p:cNvSpPr/>
            <p:nvPr/>
          </p:nvSpPr>
          <p:spPr>
            <a:xfrm rot="21588000">
              <a:off x="-44280" y="-212040"/>
              <a:ext cx="9647280" cy="898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16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18" name="TextBox 7"/>
          <p:cNvSpPr/>
          <p:nvPr/>
        </p:nvSpPr>
        <p:spPr>
          <a:xfrm>
            <a:off x="1123920" y="4179240"/>
            <a:ext cx="7770240" cy="88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6999"/>
              </a:lnSpc>
            </a:pPr>
            <a:r>
              <a:rPr lang="en-US" sz="4800" b="0" u="none" strike="noStrike">
                <a:solidFill>
                  <a:srgbClr val="372A28"/>
                </a:solidFill>
                <a:effectLst/>
                <a:uFillTx/>
                <a:latin typeface="ITC Avant Garde Gothic"/>
                <a:ea typeface="ITC Avant Garde Gothic"/>
              </a:rPr>
              <a:t>- Ready for questions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Picture 4" descr="Adobe Stock"/>
          <p:cNvPicPr/>
          <p:nvPr/>
        </p:nvPicPr>
        <p:blipFill>
          <a:blip r:embed="rId3"/>
          <a:stretch/>
        </p:blipFill>
        <p:spPr>
          <a:xfrm>
            <a:off x="522360" y="5103000"/>
            <a:ext cx="9230760" cy="1851480"/>
          </a:xfrm>
          <a:prstGeom prst="rect">
            <a:avLst/>
          </a:prstGeom>
          <a:noFill/>
          <a:ln w="0"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120" name="TextBox 7"/>
          <p:cNvSpPr/>
          <p:nvPr/>
        </p:nvSpPr>
        <p:spPr>
          <a:xfrm>
            <a:off x="2285640" y="1923120"/>
            <a:ext cx="5257080" cy="22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6000" b="0" u="none" strike="noStrike">
                <a:solidFill>
                  <a:srgbClr val="372A28"/>
                </a:solidFill>
                <a:effectLst/>
                <a:uFillTx/>
                <a:latin typeface="ITC Avant Garde Gothic"/>
                <a:ea typeface="ITC Avant Garde Gothic"/>
              </a:rPr>
              <a:t>THANK YOU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800" b="0" u="none" strike="noStrike">
                <a:solidFill>
                  <a:srgbClr val="372A28"/>
                </a:solidFill>
                <a:effectLst/>
                <a:uFillTx/>
                <a:latin typeface="ITC Avant Garde Gothic"/>
                <a:ea typeface="ITC Avant Garde Gothic"/>
              </a:rPr>
              <a:t>&amp;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6000" b="0" u="none" strike="noStrike">
                <a:solidFill>
                  <a:srgbClr val="372A28"/>
                </a:solidFill>
                <a:effectLst/>
                <a:uFillTx/>
                <a:latin typeface="ITC Avant Garde Gothic"/>
                <a:ea typeface="ITC Avant Garde Gothic"/>
              </a:rPr>
              <a:t>Q&amp;A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Picture 120"/>
          <p:cNvPicPr/>
          <p:nvPr/>
        </p:nvPicPr>
        <p:blipFill>
          <a:blip r:embed="rId4"/>
          <a:stretch/>
        </p:blipFill>
        <p:spPr>
          <a:xfrm>
            <a:off x="0" y="-204480"/>
            <a:ext cx="9752400" cy="212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Freeform 9"/>
          <p:cNvSpPr/>
          <p:nvPr/>
        </p:nvSpPr>
        <p:spPr>
          <a:xfrm rot="16200000">
            <a:off x="523080" y="1295280"/>
            <a:ext cx="1528920" cy="2453040"/>
          </a:xfrm>
          <a:custGeom>
            <a:avLst/>
            <a:gdLst>
              <a:gd name="textAreaLeft" fmla="*/ 0 w 1528920"/>
              <a:gd name="textAreaRight" fmla="*/ 1531080 w 1528920"/>
              <a:gd name="textAreaTop" fmla="*/ 0 h 2453040"/>
              <a:gd name="textAreaBottom" fmla="*/ 2455200 h 2453040"/>
            </a:gdLst>
            <a:ahLst/>
            <a:cxnLst/>
            <a:rect l="textAreaLeft" t="textAreaTop" r="textAreaRight" b="textAreaBottom"/>
            <a:pathLst>
              <a:path w="1531222" h="2455312">
                <a:moveTo>
                  <a:pt x="0" y="0"/>
                </a:moveTo>
                <a:lnTo>
                  <a:pt x="1531221" y="0"/>
                </a:lnTo>
                <a:lnTo>
                  <a:pt x="1531221" y="2455311"/>
                </a:lnTo>
                <a:lnTo>
                  <a:pt x="0" y="2455311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3" name="Freeform 8"/>
          <p:cNvSpPr/>
          <p:nvPr/>
        </p:nvSpPr>
        <p:spPr>
          <a:xfrm rot="16200000">
            <a:off x="7777080" y="1403280"/>
            <a:ext cx="1528920" cy="2453040"/>
          </a:xfrm>
          <a:custGeom>
            <a:avLst/>
            <a:gdLst>
              <a:gd name="textAreaLeft" fmla="*/ 0 w 1528920"/>
              <a:gd name="textAreaRight" fmla="*/ 1531080 w 1528920"/>
              <a:gd name="textAreaTop" fmla="*/ 0 h 2453040"/>
              <a:gd name="textAreaBottom" fmla="*/ 2455200 h 2453040"/>
            </a:gdLst>
            <a:ahLst/>
            <a:cxnLst/>
            <a:rect l="textAreaLeft" t="textAreaTop" r="textAreaRight" b="textAreaBottom"/>
            <a:pathLst>
              <a:path w="1531222" h="2455312">
                <a:moveTo>
                  <a:pt x="0" y="0"/>
                </a:moveTo>
                <a:lnTo>
                  <a:pt x="1531222" y="0"/>
                </a:lnTo>
                <a:lnTo>
                  <a:pt x="1531222" y="2455312"/>
                </a:lnTo>
                <a:lnTo>
                  <a:pt x="0" y="2455312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753</TotalTime>
  <Words>453</Words>
  <Application>Microsoft Office PowerPoint</Application>
  <PresentationFormat>Custom</PresentationFormat>
  <Paragraphs>50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Impact</vt:lpstr>
      <vt:lpstr>Wingdings</vt:lpstr>
      <vt:lpstr>Calibri</vt:lpstr>
      <vt:lpstr>Arial</vt:lpstr>
      <vt:lpstr>ITC Avant Garde Gothic</vt:lpstr>
      <vt:lpstr>Fira Code</vt:lpstr>
      <vt:lpstr>Times New Roman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Beige Black Minimalist Pitch Deck Presentation</dc:title>
  <dc:subject/>
  <dc:creator/>
  <dc:description/>
  <cp:lastModifiedBy>Lawrence Maina</cp:lastModifiedBy>
  <cp:revision>24</cp:revision>
  <dcterms:created xsi:type="dcterms:W3CDTF">2006-08-16T00:00:00Z</dcterms:created>
  <dcterms:modified xsi:type="dcterms:W3CDTF">2026-04-07T15:10:08Z</dcterms:modified>
  <dc:identifier>DAG3MJPtwgA</dc:identifier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8</vt:r8>
  </property>
  <property fmtid="{D5CDD505-2E9C-101B-9397-08002B2CF9AE}" pid="3" name="PresentationFormat">
    <vt:lpwstr>Custom</vt:lpwstr>
  </property>
  <property fmtid="{D5CDD505-2E9C-101B-9397-08002B2CF9AE}" pid="4" name="Slides">
    <vt:r8>12</vt:r8>
  </property>
</Properties>
</file>